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  <p:sldId id="260" r:id="rId4"/>
    <p:sldId id="261" r:id="rId5"/>
    <p:sldId id="263" r:id="rId6"/>
    <p:sldId id="264" r:id="rId7"/>
    <p:sldId id="266" r:id="rId8"/>
    <p:sldId id="268" r:id="rId9"/>
    <p:sldId id="269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0"/>
    <p:restoredTop sz="96983"/>
  </p:normalViewPr>
  <p:slideViewPr>
    <p:cSldViewPr snapToGrid="0">
      <p:cViewPr varScale="1">
        <p:scale>
          <a:sx n="110" d="100"/>
          <a:sy n="110" d="100"/>
        </p:scale>
        <p:origin x="208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Ramp: Base vs. Positive (UGX 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Base</c:v>
          </c:tx>
          <c:spPr>
            <a:ln w="28575" cap="rnd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Data'!$B$54:$B$89</c:f>
              <c:numCache>
                <c:formatCode>General</c:formatCode>
                <c:ptCount val="36"/>
                <c:pt idx="0">
                  <c:v>16.09</c:v>
                </c:pt>
                <c:pt idx="1">
                  <c:v>20.079999999999998</c:v>
                </c:pt>
                <c:pt idx="2">
                  <c:v>24.21</c:v>
                </c:pt>
                <c:pt idx="3">
                  <c:v>28.48</c:v>
                </c:pt>
                <c:pt idx="4">
                  <c:v>32.909999999999997</c:v>
                </c:pt>
                <c:pt idx="5">
                  <c:v>37.5</c:v>
                </c:pt>
                <c:pt idx="6">
                  <c:v>42.24</c:v>
                </c:pt>
                <c:pt idx="7">
                  <c:v>47.15</c:v>
                </c:pt>
                <c:pt idx="8">
                  <c:v>52.22</c:v>
                </c:pt>
                <c:pt idx="9">
                  <c:v>57.47</c:v>
                </c:pt>
                <c:pt idx="10">
                  <c:v>62.89</c:v>
                </c:pt>
                <c:pt idx="11">
                  <c:v>68.5</c:v>
                </c:pt>
                <c:pt idx="12">
                  <c:v>74.3</c:v>
                </c:pt>
                <c:pt idx="13">
                  <c:v>80.28</c:v>
                </c:pt>
                <c:pt idx="14">
                  <c:v>86.47</c:v>
                </c:pt>
                <c:pt idx="15">
                  <c:v>92.85</c:v>
                </c:pt>
                <c:pt idx="16">
                  <c:v>99.45</c:v>
                </c:pt>
                <c:pt idx="17">
                  <c:v>106.26</c:v>
                </c:pt>
                <c:pt idx="18">
                  <c:v>113.28</c:v>
                </c:pt>
                <c:pt idx="19">
                  <c:v>120.54</c:v>
                </c:pt>
                <c:pt idx="20">
                  <c:v>128.02000000000001</c:v>
                </c:pt>
                <c:pt idx="21">
                  <c:v>135.74</c:v>
                </c:pt>
                <c:pt idx="22">
                  <c:v>143.71</c:v>
                </c:pt>
                <c:pt idx="23">
                  <c:v>151.91999999999999</c:v>
                </c:pt>
                <c:pt idx="24">
                  <c:v>160.38999999999999</c:v>
                </c:pt>
                <c:pt idx="25">
                  <c:v>169.12</c:v>
                </c:pt>
                <c:pt idx="26">
                  <c:v>178.13</c:v>
                </c:pt>
                <c:pt idx="27">
                  <c:v>187.41</c:v>
                </c:pt>
                <c:pt idx="28">
                  <c:v>196.97</c:v>
                </c:pt>
                <c:pt idx="29">
                  <c:v>206.82</c:v>
                </c:pt>
                <c:pt idx="30">
                  <c:v>216.98</c:v>
                </c:pt>
                <c:pt idx="31">
                  <c:v>227.44</c:v>
                </c:pt>
                <c:pt idx="32">
                  <c:v>238.22</c:v>
                </c:pt>
                <c:pt idx="33">
                  <c:v>249.31</c:v>
                </c:pt>
                <c:pt idx="34">
                  <c:v>260.74</c:v>
                </c:pt>
                <c:pt idx="35">
                  <c:v>272.51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1F-2A4B-876E-304236CE5C00}"/>
            </c:ext>
          </c:extLst>
        </c:ser>
        <c:ser>
          <c:idx val="1"/>
          <c:order val="1"/>
          <c:tx>
            <c:v>Positive</c:v>
          </c:tx>
          <c:spPr>
            <a:ln w="28575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Data'!$C$54:$C$89</c:f>
              <c:numCache>
                <c:formatCode>General</c:formatCode>
                <c:ptCount val="36"/>
                <c:pt idx="0">
                  <c:v>26.73</c:v>
                </c:pt>
                <c:pt idx="1">
                  <c:v>36.78</c:v>
                </c:pt>
                <c:pt idx="2">
                  <c:v>47.27</c:v>
                </c:pt>
                <c:pt idx="3">
                  <c:v>58.21</c:v>
                </c:pt>
                <c:pt idx="4">
                  <c:v>69.599999999999994</c:v>
                </c:pt>
                <c:pt idx="5">
                  <c:v>81.47</c:v>
                </c:pt>
                <c:pt idx="6">
                  <c:v>93.83</c:v>
                </c:pt>
                <c:pt idx="7">
                  <c:v>106.7</c:v>
                </c:pt>
                <c:pt idx="8">
                  <c:v>120.09</c:v>
                </c:pt>
                <c:pt idx="9">
                  <c:v>134.02000000000001</c:v>
                </c:pt>
                <c:pt idx="10">
                  <c:v>148.51</c:v>
                </c:pt>
                <c:pt idx="11">
                  <c:v>163.57</c:v>
                </c:pt>
                <c:pt idx="12">
                  <c:v>179.23</c:v>
                </c:pt>
                <c:pt idx="13">
                  <c:v>195.5</c:v>
                </c:pt>
                <c:pt idx="14">
                  <c:v>212.4</c:v>
                </c:pt>
                <c:pt idx="15">
                  <c:v>229.95</c:v>
                </c:pt>
                <c:pt idx="16">
                  <c:v>248.18</c:v>
                </c:pt>
                <c:pt idx="17">
                  <c:v>267.10000000000002</c:v>
                </c:pt>
                <c:pt idx="18">
                  <c:v>286.74</c:v>
                </c:pt>
                <c:pt idx="19">
                  <c:v>307.11</c:v>
                </c:pt>
                <c:pt idx="20">
                  <c:v>328.25</c:v>
                </c:pt>
                <c:pt idx="21">
                  <c:v>350.17</c:v>
                </c:pt>
                <c:pt idx="22">
                  <c:v>372.9</c:v>
                </c:pt>
                <c:pt idx="23">
                  <c:v>396.47</c:v>
                </c:pt>
                <c:pt idx="24">
                  <c:v>420.89</c:v>
                </c:pt>
                <c:pt idx="25">
                  <c:v>446.21</c:v>
                </c:pt>
                <c:pt idx="26">
                  <c:v>472.43</c:v>
                </c:pt>
                <c:pt idx="27">
                  <c:v>499.6</c:v>
                </c:pt>
                <c:pt idx="28">
                  <c:v>527.75</c:v>
                </c:pt>
                <c:pt idx="29">
                  <c:v>556.89</c:v>
                </c:pt>
                <c:pt idx="30">
                  <c:v>587.07000000000005</c:v>
                </c:pt>
                <c:pt idx="31">
                  <c:v>618.29999999999995</c:v>
                </c:pt>
                <c:pt idx="32">
                  <c:v>650.64</c:v>
                </c:pt>
                <c:pt idx="33">
                  <c:v>684.1</c:v>
                </c:pt>
                <c:pt idx="34">
                  <c:v>718.73</c:v>
                </c:pt>
                <c:pt idx="35">
                  <c:v>754.55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F-2A4B-876E-304236CE5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4276927"/>
        <c:axId val="724285887"/>
      </c:lineChart>
      <c:catAx>
        <c:axId val="7242769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285887"/>
        <c:crosses val="autoZero"/>
        <c:auto val="1"/>
        <c:lblAlgn val="ctr"/>
        <c:lblOffset val="100"/>
        <c:noMultiLvlLbl val="0"/>
      </c:catAx>
      <c:valAx>
        <c:axId val="724285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UGX Millions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276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Net Profit: Base vs. Positive (UGX 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Base</c:v>
          </c:tx>
          <c:spPr>
            <a:ln w="28575" cap="rnd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Data'!$C$54:$C$89</c:f>
              <c:numCache>
                <c:formatCode>General</c:formatCode>
                <c:ptCount val="36"/>
                <c:pt idx="0">
                  <c:v>26.73</c:v>
                </c:pt>
                <c:pt idx="1">
                  <c:v>36.78</c:v>
                </c:pt>
                <c:pt idx="2">
                  <c:v>47.27</c:v>
                </c:pt>
                <c:pt idx="3">
                  <c:v>58.21</c:v>
                </c:pt>
                <c:pt idx="4">
                  <c:v>69.599999999999994</c:v>
                </c:pt>
                <c:pt idx="5">
                  <c:v>81.47</c:v>
                </c:pt>
                <c:pt idx="6">
                  <c:v>93.83</c:v>
                </c:pt>
                <c:pt idx="7">
                  <c:v>106.7</c:v>
                </c:pt>
                <c:pt idx="8">
                  <c:v>120.09</c:v>
                </c:pt>
                <c:pt idx="9">
                  <c:v>134.02000000000001</c:v>
                </c:pt>
                <c:pt idx="10">
                  <c:v>148.51</c:v>
                </c:pt>
                <c:pt idx="11">
                  <c:v>163.57</c:v>
                </c:pt>
                <c:pt idx="12">
                  <c:v>179.23</c:v>
                </c:pt>
                <c:pt idx="13">
                  <c:v>195.5</c:v>
                </c:pt>
                <c:pt idx="14">
                  <c:v>212.4</c:v>
                </c:pt>
                <c:pt idx="15">
                  <c:v>229.95</c:v>
                </c:pt>
                <c:pt idx="16">
                  <c:v>248.18</c:v>
                </c:pt>
                <c:pt idx="17">
                  <c:v>267.10000000000002</c:v>
                </c:pt>
                <c:pt idx="18">
                  <c:v>286.74</c:v>
                </c:pt>
                <c:pt idx="19">
                  <c:v>307.11</c:v>
                </c:pt>
                <c:pt idx="20">
                  <c:v>328.25</c:v>
                </c:pt>
                <c:pt idx="21">
                  <c:v>350.17</c:v>
                </c:pt>
                <c:pt idx="22">
                  <c:v>372.9</c:v>
                </c:pt>
                <c:pt idx="23">
                  <c:v>396.47</c:v>
                </c:pt>
                <c:pt idx="24">
                  <c:v>420.89</c:v>
                </c:pt>
                <c:pt idx="25">
                  <c:v>446.21</c:v>
                </c:pt>
                <c:pt idx="26">
                  <c:v>472.43</c:v>
                </c:pt>
                <c:pt idx="27">
                  <c:v>499.6</c:v>
                </c:pt>
                <c:pt idx="28">
                  <c:v>527.75</c:v>
                </c:pt>
                <c:pt idx="29">
                  <c:v>556.89</c:v>
                </c:pt>
                <c:pt idx="30">
                  <c:v>587.07000000000005</c:v>
                </c:pt>
                <c:pt idx="31">
                  <c:v>618.29999999999995</c:v>
                </c:pt>
                <c:pt idx="32">
                  <c:v>650.64</c:v>
                </c:pt>
                <c:pt idx="33">
                  <c:v>684.1</c:v>
                </c:pt>
                <c:pt idx="34">
                  <c:v>718.73</c:v>
                </c:pt>
                <c:pt idx="35">
                  <c:v>754.55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FF-FA43-A433-0FF5A6DB6C0C}"/>
            </c:ext>
          </c:extLst>
        </c:ser>
        <c:ser>
          <c:idx val="3"/>
          <c:order val="1"/>
          <c:tx>
            <c:v>Positive</c:v>
          </c:tx>
          <c:spPr>
            <a:ln w="28575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Data'!$E$54:$E$89</c:f>
              <c:numCache>
                <c:formatCode>General</c:formatCode>
                <c:ptCount val="36"/>
                <c:pt idx="0">
                  <c:v>-92.79</c:v>
                </c:pt>
                <c:pt idx="1">
                  <c:v>-88.11</c:v>
                </c:pt>
                <c:pt idx="2">
                  <c:v>-83.22</c:v>
                </c:pt>
                <c:pt idx="3">
                  <c:v>-78.11</c:v>
                </c:pt>
                <c:pt idx="4">
                  <c:v>-72.78</c:v>
                </c:pt>
                <c:pt idx="5">
                  <c:v>-67.22</c:v>
                </c:pt>
                <c:pt idx="6">
                  <c:v>-61.41</c:v>
                </c:pt>
                <c:pt idx="7">
                  <c:v>-55.37</c:v>
                </c:pt>
                <c:pt idx="8">
                  <c:v>-49.07</c:v>
                </c:pt>
                <c:pt idx="9">
                  <c:v>-42.51</c:v>
                </c:pt>
                <c:pt idx="10">
                  <c:v>-35.68</c:v>
                </c:pt>
                <c:pt idx="11">
                  <c:v>-28.57</c:v>
                </c:pt>
                <c:pt idx="12">
                  <c:v>-21.17</c:v>
                </c:pt>
                <c:pt idx="13">
                  <c:v>-13.48</c:v>
                </c:pt>
                <c:pt idx="14">
                  <c:v>-5.49</c:v>
                </c:pt>
                <c:pt idx="15">
                  <c:v>2.82</c:v>
                </c:pt>
                <c:pt idx="16">
                  <c:v>11.45</c:v>
                </c:pt>
                <c:pt idx="17">
                  <c:v>20.420000000000002</c:v>
                </c:pt>
                <c:pt idx="18">
                  <c:v>29.73</c:v>
                </c:pt>
                <c:pt idx="19">
                  <c:v>39.4</c:v>
                </c:pt>
                <c:pt idx="20">
                  <c:v>49.43</c:v>
                </c:pt>
                <c:pt idx="21">
                  <c:v>59.83</c:v>
                </c:pt>
                <c:pt idx="22">
                  <c:v>70.63</c:v>
                </c:pt>
                <c:pt idx="23">
                  <c:v>81.819999999999993</c:v>
                </c:pt>
                <c:pt idx="24">
                  <c:v>93.43</c:v>
                </c:pt>
                <c:pt idx="25">
                  <c:v>105.46</c:v>
                </c:pt>
                <c:pt idx="26">
                  <c:v>117.93</c:v>
                </c:pt>
                <c:pt idx="27">
                  <c:v>130.84</c:v>
                </c:pt>
                <c:pt idx="28">
                  <c:v>144.22999999999999</c:v>
                </c:pt>
                <c:pt idx="29">
                  <c:v>158.08000000000001</c:v>
                </c:pt>
                <c:pt idx="30">
                  <c:v>172.43</c:v>
                </c:pt>
                <c:pt idx="31">
                  <c:v>187.29</c:v>
                </c:pt>
                <c:pt idx="32">
                  <c:v>202.66</c:v>
                </c:pt>
                <c:pt idx="33">
                  <c:v>218.58</c:v>
                </c:pt>
                <c:pt idx="34">
                  <c:v>235.04</c:v>
                </c:pt>
                <c:pt idx="35">
                  <c:v>252.08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FF-FA43-A433-0FF5A6DB6C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4353023"/>
        <c:axId val="724251327"/>
      </c:lineChart>
      <c:catAx>
        <c:axId val="724353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251327"/>
        <c:crosses val="autoZero"/>
        <c:auto val="1"/>
        <c:lblAlgn val="ctr"/>
        <c:lblOffset val="100"/>
        <c:noMultiLvlLbl val="0"/>
      </c:catAx>
      <c:valAx>
        <c:axId val="724251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UGX Millions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353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Cumulative Cash Position: Base vs. Positive (UGX M)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'Slide Data'!$C$53</c:f>
              <c:strCache>
                <c:ptCount val="1"/>
                <c:pt idx="0">
                  <c:v>S5: Positive Revenue (UGX M)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Data'!$C$54:$C$89</c:f>
              <c:numCache>
                <c:formatCode>General</c:formatCode>
                <c:ptCount val="36"/>
                <c:pt idx="0">
                  <c:v>26.73</c:v>
                </c:pt>
                <c:pt idx="1">
                  <c:v>36.78</c:v>
                </c:pt>
                <c:pt idx="2">
                  <c:v>47.27</c:v>
                </c:pt>
                <c:pt idx="3">
                  <c:v>58.21</c:v>
                </c:pt>
                <c:pt idx="4">
                  <c:v>69.599999999999994</c:v>
                </c:pt>
                <c:pt idx="5">
                  <c:v>81.47</c:v>
                </c:pt>
                <c:pt idx="6">
                  <c:v>93.83</c:v>
                </c:pt>
                <c:pt idx="7">
                  <c:v>106.7</c:v>
                </c:pt>
                <c:pt idx="8">
                  <c:v>120.09</c:v>
                </c:pt>
                <c:pt idx="9">
                  <c:v>134.02000000000001</c:v>
                </c:pt>
                <c:pt idx="10">
                  <c:v>148.51</c:v>
                </c:pt>
                <c:pt idx="11">
                  <c:v>163.57</c:v>
                </c:pt>
                <c:pt idx="12">
                  <c:v>179.23</c:v>
                </c:pt>
                <c:pt idx="13">
                  <c:v>195.5</c:v>
                </c:pt>
                <c:pt idx="14">
                  <c:v>212.4</c:v>
                </c:pt>
                <c:pt idx="15">
                  <c:v>229.95</c:v>
                </c:pt>
                <c:pt idx="16">
                  <c:v>248.18</c:v>
                </c:pt>
                <c:pt idx="17">
                  <c:v>267.10000000000002</c:v>
                </c:pt>
                <c:pt idx="18">
                  <c:v>286.74</c:v>
                </c:pt>
                <c:pt idx="19">
                  <c:v>307.11</c:v>
                </c:pt>
                <c:pt idx="20">
                  <c:v>328.25</c:v>
                </c:pt>
                <c:pt idx="21">
                  <c:v>350.17</c:v>
                </c:pt>
                <c:pt idx="22">
                  <c:v>372.9</c:v>
                </c:pt>
                <c:pt idx="23">
                  <c:v>396.47</c:v>
                </c:pt>
                <c:pt idx="24">
                  <c:v>420.89</c:v>
                </c:pt>
                <c:pt idx="25">
                  <c:v>446.21</c:v>
                </c:pt>
                <c:pt idx="26">
                  <c:v>472.43</c:v>
                </c:pt>
                <c:pt idx="27">
                  <c:v>499.6</c:v>
                </c:pt>
                <c:pt idx="28">
                  <c:v>527.75</c:v>
                </c:pt>
                <c:pt idx="29">
                  <c:v>556.89</c:v>
                </c:pt>
                <c:pt idx="30">
                  <c:v>587.07000000000005</c:v>
                </c:pt>
                <c:pt idx="31">
                  <c:v>618.29999999999995</c:v>
                </c:pt>
                <c:pt idx="32">
                  <c:v>650.64</c:v>
                </c:pt>
                <c:pt idx="33">
                  <c:v>684.1</c:v>
                </c:pt>
                <c:pt idx="34">
                  <c:v>718.73</c:v>
                </c:pt>
                <c:pt idx="35">
                  <c:v>754.55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C2-EE4E-9482-8DFF8668ED74}"/>
            </c:ext>
          </c:extLst>
        </c:ser>
        <c:ser>
          <c:idx val="3"/>
          <c:order val="1"/>
          <c:tx>
            <c:strRef>
              <c:f>'Slide Data'!$E$53</c:f>
              <c:strCache>
                <c:ptCount val="1"/>
                <c:pt idx="0">
                  <c:v>S7: Positive Net Profit (UGX M)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Data'!$E$54:$E$89</c:f>
              <c:numCache>
                <c:formatCode>General</c:formatCode>
                <c:ptCount val="36"/>
                <c:pt idx="0">
                  <c:v>-92.79</c:v>
                </c:pt>
                <c:pt idx="1">
                  <c:v>-88.11</c:v>
                </c:pt>
                <c:pt idx="2">
                  <c:v>-83.22</c:v>
                </c:pt>
                <c:pt idx="3">
                  <c:v>-78.11</c:v>
                </c:pt>
                <c:pt idx="4">
                  <c:v>-72.78</c:v>
                </c:pt>
                <c:pt idx="5">
                  <c:v>-67.22</c:v>
                </c:pt>
                <c:pt idx="6">
                  <c:v>-61.41</c:v>
                </c:pt>
                <c:pt idx="7">
                  <c:v>-55.37</c:v>
                </c:pt>
                <c:pt idx="8">
                  <c:v>-49.07</c:v>
                </c:pt>
                <c:pt idx="9">
                  <c:v>-42.51</c:v>
                </c:pt>
                <c:pt idx="10">
                  <c:v>-35.68</c:v>
                </c:pt>
                <c:pt idx="11">
                  <c:v>-28.57</c:v>
                </c:pt>
                <c:pt idx="12">
                  <c:v>-21.17</c:v>
                </c:pt>
                <c:pt idx="13">
                  <c:v>-13.48</c:v>
                </c:pt>
                <c:pt idx="14">
                  <c:v>-5.49</c:v>
                </c:pt>
                <c:pt idx="15">
                  <c:v>2.82</c:v>
                </c:pt>
                <c:pt idx="16">
                  <c:v>11.45</c:v>
                </c:pt>
                <c:pt idx="17">
                  <c:v>20.420000000000002</c:v>
                </c:pt>
                <c:pt idx="18">
                  <c:v>29.73</c:v>
                </c:pt>
                <c:pt idx="19">
                  <c:v>39.4</c:v>
                </c:pt>
                <c:pt idx="20">
                  <c:v>49.43</c:v>
                </c:pt>
                <c:pt idx="21">
                  <c:v>59.83</c:v>
                </c:pt>
                <c:pt idx="22">
                  <c:v>70.63</c:v>
                </c:pt>
                <c:pt idx="23">
                  <c:v>81.819999999999993</c:v>
                </c:pt>
                <c:pt idx="24">
                  <c:v>93.43</c:v>
                </c:pt>
                <c:pt idx="25">
                  <c:v>105.46</c:v>
                </c:pt>
                <c:pt idx="26">
                  <c:v>117.93</c:v>
                </c:pt>
                <c:pt idx="27">
                  <c:v>130.84</c:v>
                </c:pt>
                <c:pt idx="28">
                  <c:v>144.22999999999999</c:v>
                </c:pt>
                <c:pt idx="29">
                  <c:v>158.08000000000001</c:v>
                </c:pt>
                <c:pt idx="30">
                  <c:v>172.43</c:v>
                </c:pt>
                <c:pt idx="31">
                  <c:v>187.29</c:v>
                </c:pt>
                <c:pt idx="32">
                  <c:v>202.66</c:v>
                </c:pt>
                <c:pt idx="33">
                  <c:v>218.58</c:v>
                </c:pt>
                <c:pt idx="34">
                  <c:v>235.04</c:v>
                </c:pt>
                <c:pt idx="35">
                  <c:v>252.08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DC2-EE4E-9482-8DFF8668ED74}"/>
            </c:ext>
          </c:extLst>
        </c:ser>
        <c:ser>
          <c:idx val="5"/>
          <c:order val="2"/>
          <c:tx>
            <c:strRef>
              <c:f>'Slide Data'!$G$53</c:f>
              <c:strCache>
                <c:ptCount val="1"/>
                <c:pt idx="0">
                  <c:v>S8: Positive Cumulative (UGX M)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'Slide Data'!$A$54:$A$89</c:f>
              <c:strCache>
                <c:ptCount val="3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  <c:pt idx="12">
                  <c:v>Month 13</c:v>
                </c:pt>
                <c:pt idx="13">
                  <c:v>Month 14</c:v>
                </c:pt>
                <c:pt idx="14">
                  <c:v>Month 15</c:v>
                </c:pt>
                <c:pt idx="15">
                  <c:v>Month 16</c:v>
                </c:pt>
                <c:pt idx="16">
                  <c:v>Month 17</c:v>
                </c:pt>
                <c:pt idx="17">
                  <c:v>Month 18</c:v>
                </c:pt>
                <c:pt idx="18">
                  <c:v>Month 19</c:v>
                </c:pt>
                <c:pt idx="19">
                  <c:v>Month 20</c:v>
                </c:pt>
                <c:pt idx="20">
                  <c:v>Month 21</c:v>
                </c:pt>
                <c:pt idx="21">
                  <c:v>Month 22</c:v>
                </c:pt>
                <c:pt idx="22">
                  <c:v>Month 23</c:v>
                </c:pt>
                <c:pt idx="23">
                  <c:v>Month 24</c:v>
                </c:pt>
                <c:pt idx="24">
                  <c:v>Month 25</c:v>
                </c:pt>
                <c:pt idx="25">
                  <c:v>Month 26</c:v>
                </c:pt>
                <c:pt idx="26">
                  <c:v>Month 27</c:v>
                </c:pt>
                <c:pt idx="27">
                  <c:v>Month 28</c:v>
                </c:pt>
                <c:pt idx="28">
                  <c:v>Month 29</c:v>
                </c:pt>
                <c:pt idx="29">
                  <c:v>Month 30</c:v>
                </c:pt>
                <c:pt idx="30">
                  <c:v>Month 31</c:v>
                </c:pt>
                <c:pt idx="31">
                  <c:v>Month 32</c:v>
                </c:pt>
                <c:pt idx="32">
                  <c:v>Month 33</c:v>
                </c:pt>
                <c:pt idx="33">
                  <c:v>Month 34</c:v>
                </c:pt>
                <c:pt idx="34">
                  <c:v>Month 35</c:v>
                </c:pt>
                <c:pt idx="35">
                  <c:v>Month 36</c:v>
                </c:pt>
              </c:strCache>
            </c:strRef>
          </c:cat>
          <c:val>
            <c:numRef>
              <c:f>'Slide Data'!$G$54:$G$89</c:f>
              <c:numCache>
                <c:formatCode>General</c:formatCode>
                <c:ptCount val="36"/>
                <c:pt idx="0">
                  <c:v>-92.79</c:v>
                </c:pt>
                <c:pt idx="1">
                  <c:v>-180.91</c:v>
                </c:pt>
                <c:pt idx="2">
                  <c:v>-264.13</c:v>
                </c:pt>
                <c:pt idx="3">
                  <c:v>-342.24</c:v>
                </c:pt>
                <c:pt idx="4">
                  <c:v>-415.02</c:v>
                </c:pt>
                <c:pt idx="5">
                  <c:v>-482.23</c:v>
                </c:pt>
                <c:pt idx="6">
                  <c:v>-543.65</c:v>
                </c:pt>
                <c:pt idx="7">
                  <c:v>-599.02</c:v>
                </c:pt>
                <c:pt idx="8">
                  <c:v>-648.08000000000004</c:v>
                </c:pt>
                <c:pt idx="9">
                  <c:v>-690.59</c:v>
                </c:pt>
                <c:pt idx="10">
                  <c:v>-726.27</c:v>
                </c:pt>
                <c:pt idx="11">
                  <c:v>-754.84</c:v>
                </c:pt>
                <c:pt idx="12">
                  <c:v>-776.01</c:v>
                </c:pt>
                <c:pt idx="13">
                  <c:v>-789.49</c:v>
                </c:pt>
                <c:pt idx="14">
                  <c:v>-794.98</c:v>
                </c:pt>
                <c:pt idx="15">
                  <c:v>-792.16</c:v>
                </c:pt>
                <c:pt idx="16">
                  <c:v>-780.71</c:v>
                </c:pt>
                <c:pt idx="17">
                  <c:v>-760.29</c:v>
                </c:pt>
                <c:pt idx="18">
                  <c:v>-730.55</c:v>
                </c:pt>
                <c:pt idx="19">
                  <c:v>-691.16</c:v>
                </c:pt>
                <c:pt idx="20">
                  <c:v>-641.73</c:v>
                </c:pt>
                <c:pt idx="21">
                  <c:v>-581.9</c:v>
                </c:pt>
                <c:pt idx="22">
                  <c:v>-511.27</c:v>
                </c:pt>
                <c:pt idx="23">
                  <c:v>-429.44</c:v>
                </c:pt>
                <c:pt idx="24">
                  <c:v>-336.01</c:v>
                </c:pt>
                <c:pt idx="25">
                  <c:v>-230.55</c:v>
                </c:pt>
                <c:pt idx="26">
                  <c:v>-112.62</c:v>
                </c:pt>
                <c:pt idx="27">
                  <c:v>18.22</c:v>
                </c:pt>
                <c:pt idx="28">
                  <c:v>162.44999999999999</c:v>
                </c:pt>
                <c:pt idx="29">
                  <c:v>320.52999999999997</c:v>
                </c:pt>
                <c:pt idx="30">
                  <c:v>492.96</c:v>
                </c:pt>
                <c:pt idx="31">
                  <c:v>680.25</c:v>
                </c:pt>
                <c:pt idx="32">
                  <c:v>882.91</c:v>
                </c:pt>
                <c:pt idx="33">
                  <c:v>1101.49</c:v>
                </c:pt>
                <c:pt idx="34">
                  <c:v>1336.53</c:v>
                </c:pt>
                <c:pt idx="35">
                  <c:v>1588.61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DC2-EE4E-9482-8DFF8668E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4314623"/>
        <c:axId val="689911359"/>
      </c:lineChart>
      <c:catAx>
        <c:axId val="72431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9911359"/>
        <c:crosses val="autoZero"/>
        <c:auto val="1"/>
        <c:lblAlgn val="ctr"/>
        <c:lblOffset val="100"/>
        <c:noMultiLvlLbl val="0"/>
      </c:catAx>
      <c:valAx>
        <c:axId val="689911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431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2039-3A8B-2351-4649-C82F52A2B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CFEA6-18F9-C57E-55FC-DC3295095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408F1-61F3-88CB-1048-B4AF1395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0171-93A0-AFB3-6E12-B7A70919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0D8C2-E739-0F01-5514-B1204107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6422-E3B5-EDA0-D557-1CA47ADB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5AAB2-ECFB-551B-54C1-20053FF0B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2C47-6327-C045-3EBF-0E411AA7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C6E01-B88A-E0E8-DE0A-5BFBBDAC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9D1ED-1EF3-4B08-1F35-B90B04A2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4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2B5E-1420-3EE1-1911-C636466F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B3A74-8CDD-0522-D436-041207B80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F5136-DDB1-A32E-FDB6-A6AAD200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04133-5DD4-C77F-837A-502C8245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18506-66C1-407A-3714-ED0D3F67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5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3447-DBDD-52D4-C7E1-D0304E6E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56A2-F52D-C6F5-0397-68621C67F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B97D7-1084-F1A8-ECB4-F160A1B5D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AB8FF-6E6A-3616-8842-3AFE86A5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4D034-6D8B-F0F0-F272-8938DB05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06402-FFED-E1C7-5F13-2D3ED1AB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82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FB96D-12C6-E670-8E3C-B09CDF39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FA197-A510-A55F-D67A-30AA56EC9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05977-066D-1121-14FB-DB1D71EDD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4A99-CEA1-F119-0D68-6C9BFEA12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34AC7-6244-C9F4-D3E1-A9634F620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23653-778E-57AA-A214-312F36F3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F893C-7AE4-5222-2764-C51647E4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CBDCC4-9A07-734D-B6E1-6F8C51ED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2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E654-7D86-E1C1-F935-AFFEAF55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0EBE4-F2DB-D70A-268E-04D21A70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90D04-8617-922A-C753-7162F30A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F7149-CCA3-F1C2-CD7F-F0B52E96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4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D1436-073B-C213-4E72-6A00E7C8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4B528-449A-4AA0-F6DA-746E54E5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75BF0-7A4F-247A-3F29-0CE6B48E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40D14-F5A1-3A6C-BC72-EB5ADF3B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710F-00AB-401F-513B-400AD395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67CFB-189A-A064-23B9-2BD8DD636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6019E-79E7-6D84-B8FD-8DA5CBB02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6FB88-2A35-08F2-20D5-061080DD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1F731-E2D0-4BCC-2659-D134A0ACE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5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10F2-E4F7-C3E4-68D6-38CCF785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941D5-5210-0FB6-7194-19A2216B5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BA79B-5C9F-E83F-74B3-F55317903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6942D-0641-592A-25BE-D247FB697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370B7-CF49-098E-0178-9AE0AEB3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6C3E4-7205-E5FC-5CF2-F4CE7EBE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7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A8DC-1D1E-EEB3-036C-23942A1A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31F3B-EE1D-24DA-73DA-0B0703B32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EEC8-8492-E1F4-D0CD-181714EF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F3D8-D8C8-3B00-00F8-EFD62A64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EDFC-46F3-95C2-D1BD-AE91790D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7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EA491-29E3-F486-76D7-178CF4517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0B0D1-F0A4-37B5-0A4A-F9A7C75BA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B7712-1CD7-EB18-7545-3E23F7EF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FD08-0866-C03B-9508-0D0E0045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30BD6-299F-23E8-3A7E-B6C0A06B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7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F3864"/>
            </a:gs>
            <a:gs pos="100000">
              <a:srgbClr val="15295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595EA9-1799-A49F-0A33-AB843CA6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E16B6-0D6B-46F2-C88F-C26A3B563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F1507-8FA6-A114-C6C6-24EE22034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24B23-7C43-1947-B6B2-4F2C990EEAC1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10018-5BBE-1276-2702-D0AF6AE8D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78107-6D7A-D40E-0E17-0C9D739F5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81162-A5D0-7E45-B86B-5397D08AF6CB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2E75B6"/>
              </a:gs>
              <a:gs pos="50000">
                <a:srgbClr val="ED7D31"/>
              </a:gs>
              <a:gs pos="100000">
                <a:srgbClr val="2E75B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opLine"/>
          <p:cNvSpPr/>
          <p:nvPr/>
        </p:nvSpPr>
        <p:spPr>
          <a:xfrm>
            <a:off x="457200" y="76200"/>
            <a:ext cx="11277600" cy="0"/>
          </a:xfrm>
          <a:prstGeom prst="line">
            <a:avLst/>
          </a:prstGeom>
          <a:ln w="12700">
            <a:solidFill>
              <a:srgbClr val="2E75B6">
                <a:alpha val="4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2F2F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9E2F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9E2F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9E2F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9E2F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9E2F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D9E2F3"/>
          </a:solidFill>
        </a:defRPr>
      </a:defPPr>
      <a:lvl1pPr marL="0" algn="l" defTabSz="914400" rtl="0" eaLnBrk="1" latinLnBrk="0" hangingPunct="1">
        <a:defRPr sz="1800" kern="1200">
          <a:solidFill>
            <a:srgbClr val="D9E2F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9E2F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9E2F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9E2F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9E2F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741F5-8FEC-8BAD-AC6D-4CF9B9F21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Uganda RSV Vaccine: Market Entry Scenarios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2DF65-4653-2422-8D6B-9A1FA3B78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36-Month Commercial Model  |  Base vs. Positive Case  |  Investment Committee</a:t>
            </a:r>
          </a:p>
        </p:txBody>
      </p:sp>
    </p:spTree>
    <p:extLst>
      <p:ext uri="{BB962C8B-B14F-4D97-AF65-F5344CB8AC3E}">
        <p14:creationId xmlns:p14="http://schemas.microsoft.com/office/powerpoint/2010/main" val="1047162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D2B7-FBEA-4437-F9E8-B42FCA82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~1.75M births/year. Uganda is a real RSV market.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54B8E-4D6E-854F-91C1-711468258D51}"/>
              </a:ext>
            </a:extLst>
          </p:cNvPr>
          <p:cNvSpPr txBox="1"/>
          <p:nvPr/>
        </p:nvSpPr>
        <p:spPr>
          <a:xfrm>
            <a:off x="457200" y="1397000"/>
            <a:ext cx="11277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Four regions modeled across public/donor and private channels. Central is the largest opportunity.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5A6BB-AB96-B448-A47E-9B3F1B5414D1}"/>
              </a:ext>
            </a:extLst>
          </p:cNvPr>
          <p:cNvSpPr txBox="1"/>
          <p:nvPr/>
        </p:nvSpPr>
        <p:spPr>
          <a:xfrm>
            <a:off x="457200" y="1968500"/>
            <a:ext cx="635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D9E2F3"/>
                </a:solidFill>
              </a:rPr>
              <a:t>• National live births: ~145,800/month (~1.75M/year)
• 4 regions: Central (28%), Western (25%), Eastern (25%), Northern (22%)
• Dual channel: Public/Donor-funded + Private clinic
• Key gating factor: ANC access rates range 58–72% by region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B324D0-1CF7-0D43-B8A3-640ADFAB2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861607"/>
              </p:ext>
            </p:extLst>
          </p:nvPr>
        </p:nvGraphicFramePr>
        <p:xfrm>
          <a:off x="7061200" y="1968500"/>
          <a:ext cx="4699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193017448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64640241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Opportunity Weight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46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Central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28%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7680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Western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25%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9914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Eastern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25%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023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Northern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22%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26204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CC6151-4A93-DA42-80D4-1727AA6748F9}"/>
              </a:ext>
            </a:extLst>
          </p:cNvPr>
          <p:cNvSpPr/>
          <p:nvPr/>
        </p:nvSpPr>
        <p:spPr>
          <a:xfrm>
            <a:off x="457200" y="4572000"/>
            <a:ext cx="11277600" cy="635000"/>
          </a:xfrm>
          <a:prstGeom prst="roundRect">
            <a:avLst/>
          </a:prstGeom>
          <a:solidFill>
            <a:srgbClr val="162C50"/>
          </a:solidFill>
          <a:ln w="19050" cap="flat" cmpd="sng" algn="ctr">
            <a:solidFill>
              <a:srgbClr val="2E75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8FAADC"/>
                </a:solidFill>
              </a:rPr>
              <a:t>UGX Millions  |  All values stated in Uganda Shillings unless noted</a:t>
            </a:r>
          </a:p>
        </p:txBody>
      </p:sp>
    </p:spTree>
    <p:extLst>
      <p:ext uri="{BB962C8B-B14F-4D97-AF65-F5344CB8AC3E}">
        <p14:creationId xmlns:p14="http://schemas.microsoft.com/office/powerpoint/2010/main" val="1665781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0E52-7AF8-CD72-81F0-4226830F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Revenue is a product of 5 conversion steps — each one is a lever.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63FEC-3316-424A-813F-017EC04FC7D8}"/>
              </a:ext>
            </a:extLst>
          </p:cNvPr>
          <p:cNvSpPr txBox="1"/>
          <p:nvPr/>
        </p:nvSpPr>
        <p:spPr>
          <a:xfrm>
            <a:off x="457200" y="11176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Central Public channel, Base case. Effective reach of addressable births at launch: ~0.4%.</a:t>
            </a:r>
          </a:p>
        </p:txBody>
      </p:sp>
      <p:sp>
        <p:nvSpPr>
          <p:cNvPr id="200" name="FunnelHeaders"/>
          <p:cNvSpPr/>
          <p:nvPr/>
        </p:nvSpPr>
        <p:spPr>
          <a:xfrm>
            <a:off x="457200" y="1524000"/>
            <a:ext cx="1066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 b="1" dirty="0">
                <a:solidFill>
                  <a:srgbClr val="8FAADC"/>
                </a:solidFill>
              </a:rPr>
              <a:t>                              Step                                                    Base        Positive       Note</a:t>
            </a:r>
          </a:p>
        </p:txBody>
      </p:sp>
      <p:sp>
        <p:nvSpPr>
          <p:cNvPr id="201" name="Funnel0"/>
          <p:cNvSpPr/>
          <p:nvPr/>
        </p:nvSpPr>
        <p:spPr>
          <a:xfrm>
            <a:off x="1371600" y="1828800"/>
            <a:ext cx="8382000" cy="411480"/>
          </a:xfrm>
          <a:prstGeom prst="homePlate">
            <a:avLst>
              <a:gd name="adj" fmla="val 10000"/>
            </a:avLst>
          </a:prstGeom>
          <a:solidFill>
            <a:srgbClr val="2E75B6">
              <a:alpha val="70000"/>
            </a:srgbClr>
          </a:solidFill>
          <a:ln w="6350">
            <a:solidFill>
              <a:srgbClr val="2E75B6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1. ANC Access</a:t>
            </a:r>
          </a:p>
        </p:txBody>
      </p:sp>
      <p:sp>
        <p:nvSpPr>
          <p:cNvPr id="202" name="Base0"/>
          <p:cNvSpPr/>
          <p:nvPr/>
        </p:nvSpPr>
        <p:spPr>
          <a:xfrm>
            <a:off x="457200" y="182880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72%</a:t>
            </a:r>
          </a:p>
        </p:txBody>
      </p:sp>
      <p:sp>
        <p:nvSpPr>
          <p:cNvPr id="203" name="Pos0"/>
          <p:cNvSpPr/>
          <p:nvPr/>
        </p:nvSpPr>
        <p:spPr>
          <a:xfrm>
            <a:off x="9845040" y="182880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72%</a:t>
            </a:r>
          </a:p>
        </p:txBody>
      </p:sp>
      <p:sp>
        <p:nvSpPr>
          <p:cNvPr id="204" name="Funnel1"/>
          <p:cNvSpPr/>
          <p:nvPr/>
        </p:nvSpPr>
        <p:spPr>
          <a:xfrm>
            <a:off x="1790700" y="2313432"/>
            <a:ext cx="7543800" cy="411480"/>
          </a:xfrm>
          <a:prstGeom prst="homePlate">
            <a:avLst>
              <a:gd name="adj" fmla="val 10000"/>
            </a:avLst>
          </a:prstGeom>
          <a:solidFill>
            <a:srgbClr val="2E75B6">
              <a:alpha val="73000"/>
            </a:srgbClr>
          </a:solidFill>
          <a:ln w="6350">
            <a:solidFill>
              <a:srgbClr val="2E75B6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2. Third Trimester Window</a:t>
            </a:r>
          </a:p>
        </p:txBody>
      </p:sp>
      <p:sp>
        <p:nvSpPr>
          <p:cNvPr id="205" name="Base1"/>
          <p:cNvSpPr/>
          <p:nvPr/>
        </p:nvSpPr>
        <p:spPr>
          <a:xfrm>
            <a:off x="876300" y="2313432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62%</a:t>
            </a:r>
          </a:p>
        </p:txBody>
      </p:sp>
      <p:sp>
        <p:nvSpPr>
          <p:cNvPr id="206" name="Pos1"/>
          <p:cNvSpPr/>
          <p:nvPr/>
        </p:nvSpPr>
        <p:spPr>
          <a:xfrm>
            <a:off x="9425940" y="2313432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62%</a:t>
            </a:r>
          </a:p>
        </p:txBody>
      </p:sp>
      <p:sp>
        <p:nvSpPr>
          <p:cNvPr id="207" name="Funnel2"/>
          <p:cNvSpPr/>
          <p:nvPr/>
        </p:nvSpPr>
        <p:spPr>
          <a:xfrm>
            <a:off x="2209800" y="2798064"/>
            <a:ext cx="6705600" cy="411480"/>
          </a:xfrm>
          <a:prstGeom prst="homePlate">
            <a:avLst>
              <a:gd name="adj" fmla="val 10000"/>
            </a:avLst>
          </a:prstGeom>
          <a:solidFill>
            <a:srgbClr val="ED7D31">
              <a:alpha val="90000"/>
            </a:srgbClr>
          </a:solidFill>
          <a:ln w="6350">
            <a:solidFill>
              <a:srgbClr val="ED7D31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3. Public Eligibility</a:t>
            </a:r>
          </a:p>
        </p:txBody>
      </p:sp>
      <p:sp>
        <p:nvSpPr>
          <p:cNvPr id="208" name="Base2"/>
          <p:cNvSpPr/>
          <p:nvPr/>
        </p:nvSpPr>
        <p:spPr>
          <a:xfrm>
            <a:off x="1295400" y="2798064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28%</a:t>
            </a:r>
          </a:p>
        </p:txBody>
      </p:sp>
      <p:sp>
        <p:nvSpPr>
          <p:cNvPr id="209" name="Pos2"/>
          <p:cNvSpPr/>
          <p:nvPr/>
        </p:nvSpPr>
        <p:spPr>
          <a:xfrm>
            <a:off x="9006840" y="2798064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ED7D31"/>
                </a:solidFill>
              </a:rPr>
              <a:t>35%</a:t>
            </a:r>
          </a:p>
        </p:txBody>
      </p:sp>
      <p:sp>
        <p:nvSpPr>
          <p:cNvPr id="210" name="Funnel3"/>
          <p:cNvSpPr/>
          <p:nvPr/>
        </p:nvSpPr>
        <p:spPr>
          <a:xfrm>
            <a:off x="2628900" y="3282696"/>
            <a:ext cx="5867400" cy="411480"/>
          </a:xfrm>
          <a:prstGeom prst="homePlate">
            <a:avLst>
              <a:gd name="adj" fmla="val 10000"/>
            </a:avLst>
          </a:prstGeom>
          <a:solidFill>
            <a:srgbClr val="ED7D31">
              <a:alpha val="90000"/>
            </a:srgbClr>
          </a:solidFill>
          <a:ln w="6350">
            <a:solidFill>
              <a:srgbClr val="ED7D31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4. Provider Recommendation</a:t>
            </a:r>
          </a:p>
        </p:txBody>
      </p:sp>
      <p:sp>
        <p:nvSpPr>
          <p:cNvPr id="211" name="Base3"/>
          <p:cNvSpPr/>
          <p:nvPr/>
        </p:nvSpPr>
        <p:spPr>
          <a:xfrm>
            <a:off x="1714500" y="328269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56%</a:t>
            </a:r>
          </a:p>
        </p:txBody>
      </p:sp>
      <p:sp>
        <p:nvSpPr>
          <p:cNvPr id="212" name="Pos3"/>
          <p:cNvSpPr/>
          <p:nvPr/>
        </p:nvSpPr>
        <p:spPr>
          <a:xfrm>
            <a:off x="8587740" y="3282696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ED7D31"/>
                </a:solidFill>
              </a:rPr>
              <a:t>63%</a:t>
            </a:r>
          </a:p>
        </p:txBody>
      </p:sp>
      <p:sp>
        <p:nvSpPr>
          <p:cNvPr id="213" name="Funnel4"/>
          <p:cNvSpPr/>
          <p:nvPr/>
        </p:nvSpPr>
        <p:spPr>
          <a:xfrm>
            <a:off x="3048000" y="3767328"/>
            <a:ext cx="5029200" cy="411480"/>
          </a:xfrm>
          <a:prstGeom prst="homePlate">
            <a:avLst>
              <a:gd name="adj" fmla="val 10000"/>
            </a:avLst>
          </a:prstGeom>
          <a:solidFill>
            <a:srgbClr val="2E75B6">
              <a:alpha val="82000"/>
            </a:srgbClr>
          </a:solidFill>
          <a:ln w="6350">
            <a:solidFill>
              <a:srgbClr val="2E75B6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5. Patient Acceptance</a:t>
            </a:r>
          </a:p>
        </p:txBody>
      </p:sp>
      <p:sp>
        <p:nvSpPr>
          <p:cNvPr id="214" name="Base4"/>
          <p:cNvSpPr/>
          <p:nvPr/>
        </p:nvSpPr>
        <p:spPr>
          <a:xfrm>
            <a:off x="2133600" y="3767328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78%</a:t>
            </a:r>
          </a:p>
        </p:txBody>
      </p:sp>
      <p:sp>
        <p:nvSpPr>
          <p:cNvPr id="215" name="Pos4"/>
          <p:cNvSpPr/>
          <p:nvPr/>
        </p:nvSpPr>
        <p:spPr>
          <a:xfrm>
            <a:off x="8168640" y="3767328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ED7D31"/>
                </a:solidFill>
              </a:rPr>
              <a:t>82%</a:t>
            </a:r>
          </a:p>
        </p:txBody>
      </p:sp>
      <p:sp>
        <p:nvSpPr>
          <p:cNvPr id="216" name="Funnel5"/>
          <p:cNvSpPr/>
          <p:nvPr/>
        </p:nvSpPr>
        <p:spPr>
          <a:xfrm>
            <a:off x="3467100" y="4251960"/>
            <a:ext cx="4191000" cy="411480"/>
          </a:xfrm>
          <a:prstGeom prst="homePlate">
            <a:avLst>
              <a:gd name="adj" fmla="val 10000"/>
            </a:avLst>
          </a:prstGeom>
          <a:solidFill>
            <a:srgbClr val="2E75B6">
              <a:alpha val="85000"/>
            </a:srgbClr>
          </a:solidFill>
          <a:ln w="6350">
            <a:solidFill>
              <a:srgbClr val="2E75B6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6. Stock Availability</a:t>
            </a:r>
          </a:p>
        </p:txBody>
      </p:sp>
      <p:sp>
        <p:nvSpPr>
          <p:cNvPr id="217" name="Base5"/>
          <p:cNvSpPr/>
          <p:nvPr/>
        </p:nvSpPr>
        <p:spPr>
          <a:xfrm>
            <a:off x="2552700" y="42519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90%</a:t>
            </a:r>
          </a:p>
        </p:txBody>
      </p:sp>
      <p:sp>
        <p:nvSpPr>
          <p:cNvPr id="218" name="Pos5"/>
          <p:cNvSpPr/>
          <p:nvPr/>
        </p:nvSpPr>
        <p:spPr>
          <a:xfrm>
            <a:off x="7749540" y="425196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ED7D31"/>
                </a:solidFill>
              </a:rPr>
              <a:t>95%</a:t>
            </a:r>
          </a:p>
        </p:txBody>
      </p:sp>
      <p:sp>
        <p:nvSpPr>
          <p:cNvPr id="219" name="Funnel6"/>
          <p:cNvSpPr/>
          <p:nvPr/>
        </p:nvSpPr>
        <p:spPr>
          <a:xfrm>
            <a:off x="3886200" y="4736592"/>
            <a:ext cx="3352800" cy="411480"/>
          </a:xfrm>
          <a:prstGeom prst="homePlate">
            <a:avLst>
              <a:gd name="adj" fmla="val 10000"/>
            </a:avLst>
          </a:prstGeom>
          <a:solidFill>
            <a:srgbClr val="2E75B6">
              <a:alpha val="88000"/>
            </a:srgbClr>
          </a:solidFill>
          <a:ln w="6350">
            <a:solidFill>
              <a:srgbClr val="2E75B6"/>
            </a:solidFill>
          </a:ln>
        </p:spPr>
        <p:txBody>
          <a:bodyPr wrap="square" lIns="91440" tIns="0" rIns="91440" bIns="0" anchor="ctr" anchorCtr="0"/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7. Active Coverage State (M1)</a:t>
            </a:r>
          </a:p>
        </p:txBody>
      </p:sp>
      <p:sp>
        <p:nvSpPr>
          <p:cNvPr id="220" name="Base6"/>
          <p:cNvSpPr/>
          <p:nvPr/>
        </p:nvSpPr>
        <p:spPr>
          <a:xfrm>
            <a:off x="2971800" y="4736592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8%</a:t>
            </a:r>
          </a:p>
        </p:txBody>
      </p:sp>
      <p:sp>
        <p:nvSpPr>
          <p:cNvPr id="221" name="Pos6"/>
          <p:cNvSpPr/>
          <p:nvPr/>
        </p:nvSpPr>
        <p:spPr>
          <a:xfrm>
            <a:off x="7330440" y="4736592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b="1" dirty="0">
                <a:solidFill>
                  <a:srgbClr val="D9E2F3"/>
                </a:solidFill>
              </a:rPr>
              <a:t>8%</a:t>
            </a:r>
          </a:p>
        </p:txBody>
      </p:sp>
      <p:sp>
        <p:nvSpPr>
          <p:cNvPr id="222" name="FunnelCallout"/>
          <p:cNvSpPr/>
          <p:nvPr/>
        </p:nvSpPr>
        <p:spPr>
          <a:xfrm>
            <a:off x="914400" y="5257800"/>
            <a:ext cx="10363200" cy="36576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ED7D31"/>
            </a:solidFill>
          </a:ln>
        </p:spPr>
        <p:txBody>
          <a:bodyPr wrap="square" lIns="91440" tIns="0" rIns="91440" bIns="0" anchor="ctr"/>
          <a:lstStyle/>
          <a:p>
            <a:pPr algn="ctr"/>
            <a:r>
              <a:rPr lang="en-US" sz="1400" b="1" dirty="0">
                <a:solidFill>
                  <a:srgbClr val="ED7D31"/>
                </a:solidFill>
              </a:rPr>
              <a:t>Effective reach at launch: Base 0.4% | Positive 0.6% </a:t>
            </a:r>
            <a:r>
              <a:rPr lang="en-US" sz="1400" dirty="0">
                <a:solidFill>
                  <a:srgbClr val="B4C7E7"/>
                </a:solidFill>
              </a:rPr>
              <a:t>— grows significantly as coverage state builds</a:t>
            </a:r>
          </a:p>
        </p:txBody>
      </p:sp>
      <p:sp>
        <p:nvSpPr>
          <p:cNvPr id="223" name="BaseHdr"/>
          <p:cNvSpPr/>
          <p:nvPr/>
        </p:nvSpPr>
        <p:spPr>
          <a:xfrm>
            <a:off x="457200" y="1524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2E75B6"/>
                </a:solidFill>
              </a:rPr>
              <a:t>BASE</a:t>
            </a:r>
          </a:p>
        </p:txBody>
      </p:sp>
      <p:sp>
        <p:nvSpPr>
          <p:cNvPr id="224" name="PosHdr"/>
          <p:cNvSpPr/>
          <p:nvPr/>
        </p:nvSpPr>
        <p:spPr>
          <a:xfrm>
            <a:off x="10881360" y="1524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200" b="1" dirty="0">
                <a:solidFill>
                  <a:srgbClr val="ED7D31"/>
                </a:solidFill>
              </a:rPr>
              <a:t>POSITIVE</a:t>
            </a:r>
          </a:p>
        </p:txBody>
      </p:sp>
    </p:spTree>
    <p:extLst>
      <p:ext uri="{BB962C8B-B14F-4D97-AF65-F5344CB8AC3E}">
        <p14:creationId xmlns:p14="http://schemas.microsoft.com/office/powerpoint/2010/main" val="209972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B3A4-62AD-C8FC-EF33-92C3E029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What changes between Base and Positive? Execution discipline, not price.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D9806-E4C2-DA43-8BCA-C0DDB92D8AE9}"/>
              </a:ext>
            </a:extLst>
          </p:cNvPr>
          <p:cNvSpPr txBox="1"/>
          <p:nvPr/>
        </p:nvSpPr>
        <p:spPr>
          <a:xfrm>
            <a:off x="457200" y="11176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Same pricing structure, same regions. Positive scenario is a disciplined execution improvement.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B0793E-C134-0E41-92A5-9DD13A345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3384"/>
              </p:ext>
            </p:extLst>
          </p:nvPr>
        </p:nvGraphicFramePr>
        <p:xfrm>
          <a:off x="457200" y="1587500"/>
          <a:ext cx="11277600" cy="323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0287727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80461095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9896834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095624857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1006124542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Assumption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Positive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Commentary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77603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Public Eligibility Rate (start)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28%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35%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+7pp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More funded/affordable access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857597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Eligibility Annual Growth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8%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10%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+2pp/yr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Faster programme expansion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327848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Provider Recommendation Rate (start)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56%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63%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+7pp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KOL and medical engagement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39204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Monthly Coverage Rollout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2.5%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3.4%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+35%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Faster facility onboarding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93642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Monthly Coverage Churn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0.40%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0.30%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-25%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Better execution continuity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124888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Net Price Per Dose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UGX 35,500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UGX 38,340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+8%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i="1">
                          <a:solidFill>
                            <a:srgbClr val="8FAADC"/>
                          </a:solidFill>
                        </a:rPr>
                        <a:t>Pricing is NOT the primary driver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90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45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532C-E3A9-B506-5173-BE5DA5DB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Positive revenue grows 28× over 36 months; Base grows 17×.</a:t>
            </a:r>
          </a:p>
        </p:txBody>
      </p:sp>
      <p:graphicFrame>
        <p:nvGraphicFramePr>
          <p:cNvPr id="300" name="Revenue Chart"/>
          <p:cNvGraphicFramePr/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1" name="Headline5"/>
          <p:cNvSpPr txBox="1"/>
          <p:nvPr/>
        </p:nvSpPr>
        <p:spPr>
          <a:xfrm>
            <a:off x="457200" y="1143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i="1" dirty="0">
                <a:solidFill>
                  <a:srgbClr val="B4C7E7"/>
                </a:solidFill>
              </a:rPr>
              <a:t>Month 1: Base UGX 16M, Positive UGX 27M. Month 36: Base UGX 273M, Positive UGX 755M.</a:t>
            </a:r>
          </a:p>
        </p:txBody>
      </p:sp>
      <p:sp>
        <p:nvSpPr>
          <p:cNvPr id="302" name="Callout1"/>
          <p:cNvSpPr/>
          <p:nvPr/>
        </p:nvSpPr>
        <p:spPr>
          <a:xfrm>
            <a:off x="8915400" y="160020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2E75B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2E75B6"/>
                </a:solidFill>
              </a:rPr>
              <a:t>LAUNCH (M1)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Base 16M | Positive 27M</a:t>
            </a:r>
          </a:p>
        </p:txBody>
      </p:sp>
      <p:sp>
        <p:nvSpPr>
          <p:cNvPr id="303" name="Callout2"/>
          <p:cNvSpPr/>
          <p:nvPr/>
        </p:nvSpPr>
        <p:spPr>
          <a:xfrm>
            <a:off x="8915400" y="228600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ED7D3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ED7D31"/>
                </a:solidFill>
              </a:rPr>
              <a:t>MONTH 36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Base 273M | Positive 755M</a:t>
            </a:r>
          </a:p>
        </p:txBody>
      </p:sp>
    </p:spTree>
    <p:extLst>
      <p:ext uri="{BB962C8B-B14F-4D97-AF65-F5344CB8AC3E}">
        <p14:creationId xmlns:p14="http://schemas.microsoft.com/office/powerpoint/2010/main" val="7192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0914-6C18-E011-C096-CB27EED8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Fixed costs dominate early; variable costs scale with volume.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C70D0-AA80-2148-83A5-209FAB6A31F0}"/>
              </a:ext>
            </a:extLst>
          </p:cNvPr>
          <p:cNvSpPr txBox="1"/>
          <p:nvPr/>
        </p:nvSpPr>
        <p:spPr>
          <a:xfrm>
            <a:off x="457200" y="11176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Month 1 total costs: Base ~UGX 130M, Positive ~UGX 110M. Fixed cost base ~90–96% of total at launch.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764FAB-F0C5-8845-A26E-807F3F705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980047"/>
              </p:ext>
            </p:extLst>
          </p:nvPr>
        </p:nvGraphicFramePr>
        <p:xfrm>
          <a:off x="457200" y="1524000"/>
          <a:ext cx="11277600" cy="393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165249615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315614359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2725998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579742228"/>
                    </a:ext>
                  </a:extLst>
                </a:gridCol>
              </a:tblGrid>
              <a:tr h="35790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Cost Component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Base M1 (UGX M)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Positive M1 (UGX M)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398921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Landed Vaccine Cost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Variable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3.3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3.1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67298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Import, Cold-Chain &amp; Distribution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Variable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44643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Regulatory (headcount + fees)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13.0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11.4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879562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Market Access (headcount + tender)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21.0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18.5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237592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Medical (headcount + KOL)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15.5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13.6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0347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Training (all regions)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19.5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14.6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30638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Private Sales (reps + travel)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20.3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17.9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2731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Country Office (rent + admin + IT)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16.0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14.1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02331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Launch Budgets (all regions)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20.0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15.0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10919"/>
                  </a:ext>
                </a:extLst>
              </a:tr>
              <a:tr h="357909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solidFill>
                          <a:srgbClr val="ED7D31"/>
                        </a:solidFill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129.8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109.4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6841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84D6D2-A46F-6F41-806D-2491F0F63E90}"/>
              </a:ext>
            </a:extLst>
          </p:cNvPr>
          <p:cNvSpPr txBox="1"/>
          <p:nvPr/>
        </p:nvSpPr>
        <p:spPr>
          <a:xfrm>
            <a:off x="457200" y="55880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FAADC"/>
                </a:solidFill>
              </a:rPr>
              <a:t>Note: Fixed costs in Positive are ~16% lower than Base due to leaner launch and training budgets.</a:t>
            </a:r>
          </a:p>
        </p:txBody>
      </p:sp>
    </p:spTree>
    <p:extLst>
      <p:ext uri="{BB962C8B-B14F-4D97-AF65-F5344CB8AC3E}">
        <p14:creationId xmlns:p14="http://schemas.microsoft.com/office/powerpoint/2010/main" val="253720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2E69-D21F-16E0-3ED2-EBF42877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Base never breaks even. Positive crosses zero at Month 16.</a:t>
            </a:r>
          </a:p>
        </p:txBody>
      </p:sp>
      <p:graphicFrame>
        <p:nvGraphicFramePr>
          <p:cNvPr id="400" name="NetProfit Chart"/>
          <p:cNvGraphicFramePr/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1" name="Headline7"/>
          <p:cNvSpPr txBox="1"/>
          <p:nvPr/>
        </p:nvSpPr>
        <p:spPr>
          <a:xfrm>
            <a:off x="457200" y="1143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400" i="1" dirty="0">
                <a:solidFill>
                  <a:srgbClr val="B4C7E7"/>
                </a:solidFill>
              </a:rPr>
              <a:t>Positive hits +UGX 2.8M in Month 16. Base still −UGX 26M/month at Month 36.</a:t>
            </a:r>
          </a:p>
        </p:txBody>
      </p:sp>
      <p:sp>
        <p:nvSpPr>
          <p:cNvPr id="402" name="CalloutBE"/>
          <p:cNvSpPr/>
          <p:nvPr/>
        </p:nvSpPr>
        <p:spPr>
          <a:xfrm>
            <a:off x="8915400" y="160020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4CAF5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4CAF50"/>
                </a:solidFill>
              </a:rPr>
              <a:t>BREAK-EVEN (M16)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Positive: +2.8M</a:t>
            </a:r>
          </a:p>
        </p:txBody>
      </p:sp>
      <p:sp>
        <p:nvSpPr>
          <p:cNvPr id="403" name="CalloutM36"/>
          <p:cNvSpPr/>
          <p:nvPr/>
        </p:nvSpPr>
        <p:spPr>
          <a:xfrm>
            <a:off x="8915400" y="2286000"/>
            <a:ext cx="2971800" cy="45720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ED7D3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ED7D31"/>
                </a:solidFill>
              </a:rPr>
              <a:t>MONTH 36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Base: −26M | Positive: +252M</a:t>
            </a:r>
          </a:p>
        </p:txBody>
      </p:sp>
    </p:spTree>
    <p:extLst>
      <p:ext uri="{BB962C8B-B14F-4D97-AF65-F5344CB8AC3E}">
        <p14:creationId xmlns:p14="http://schemas.microsoft.com/office/powerpoint/2010/main" val="7489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0DAAA-3E7D-A037-D2EA-57C72A51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/>
              <a:t>Peak cash requirement is similar — but the return on that investment is entirely different.</a:t>
            </a:r>
          </a:p>
        </p:txBody>
      </p:sp>
      <p:graphicFrame>
        <p:nvGraphicFramePr>
          <p:cNvPr id="500" name="Cumulative Chart"/>
          <p:cNvGraphicFramePr/>
          <p:nvPr/>
        </p:nvGraphicFramePr>
        <p:xfrm>
          <a:off x="457200" y="1371600"/>
          <a:ext cx="8229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1" name="Headline8"/>
          <p:cNvSpPr txBox="1"/>
          <p:nvPr/>
        </p:nvSpPr>
        <p:spPr>
          <a:xfrm>
            <a:off x="457200" y="114300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300" i="1" dirty="0">
                <a:solidFill>
                  <a:srgbClr val="B4C7E7"/>
                </a:solidFill>
              </a:rPr>
              <a:t>Both scenarios require ~UGX 795M peak investment (M15). Positive recovers fully: +1,589M by M36. Base deepens to −2,938M.</a:t>
            </a:r>
          </a:p>
        </p:txBody>
      </p:sp>
      <p:sp>
        <p:nvSpPr>
          <p:cNvPr id="502" name="Callout502"/>
          <p:cNvSpPr/>
          <p:nvPr/>
        </p:nvSpPr>
        <p:spPr>
          <a:xfrm>
            <a:off x="8915400" y="1600200"/>
            <a:ext cx="2971800" cy="41148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8FAADC"/>
            </a:solidFill>
          </a:ln>
        </p:spPr>
        <p:txBody>
          <a:bodyPr wrap="square" lIns="91440" tIns="36576" rIns="91440" bIns="36576" anchor="ctr"/>
          <a:lstStyle/>
          <a:p>
            <a:pPr algn="ctr"/>
            <a:r>
              <a:rPr lang="en-US" sz="1100" b="1" dirty="0">
                <a:solidFill>
                  <a:srgbClr val="8FAADC"/>
                </a:solidFill>
              </a:rPr>
              <a:t>PEAK BURN (M15)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~−795M (both scenarios)</a:t>
            </a:r>
          </a:p>
        </p:txBody>
      </p:sp>
      <p:sp>
        <p:nvSpPr>
          <p:cNvPr id="503" name="Callout503"/>
          <p:cNvSpPr/>
          <p:nvPr/>
        </p:nvSpPr>
        <p:spPr>
          <a:xfrm>
            <a:off x="8915400" y="2171700"/>
            <a:ext cx="2971800" cy="41148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4CAF50"/>
            </a:solidFill>
          </a:ln>
        </p:spPr>
        <p:txBody>
          <a:bodyPr wrap="square" lIns="91440" tIns="36576" rIns="91440" bIns="36576" anchor="ctr"/>
          <a:lstStyle/>
          <a:p>
            <a:pPr algn="ctr"/>
            <a:r>
              <a:rPr lang="en-US" sz="1100" b="1" dirty="0">
                <a:solidFill>
                  <a:srgbClr val="4CAF50"/>
                </a:solidFill>
              </a:rPr>
              <a:t>CUMULATIVE POSITIVE (M28)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Positive turns positive</a:t>
            </a:r>
          </a:p>
        </p:txBody>
      </p:sp>
      <p:sp>
        <p:nvSpPr>
          <p:cNvPr id="504" name="Callout504"/>
          <p:cNvSpPr/>
          <p:nvPr/>
        </p:nvSpPr>
        <p:spPr>
          <a:xfrm>
            <a:off x="8915400" y="2743200"/>
            <a:ext cx="2971800" cy="411480"/>
          </a:xfrm>
          <a:prstGeom prst="roundRect">
            <a:avLst>
              <a:gd name="adj" fmla="val 10000"/>
            </a:avLst>
          </a:prstGeom>
          <a:solidFill>
            <a:srgbClr val="162C50"/>
          </a:solidFill>
          <a:ln w="12700">
            <a:solidFill>
              <a:srgbClr val="ED7D31"/>
            </a:solidFill>
          </a:ln>
        </p:spPr>
        <p:txBody>
          <a:bodyPr wrap="square" lIns="91440" tIns="36576" rIns="91440" bIns="36576" anchor="ctr"/>
          <a:lstStyle/>
          <a:p>
            <a:pPr algn="ctr"/>
            <a:r>
              <a:rPr lang="en-US" sz="1100" b="1" dirty="0">
                <a:solidFill>
                  <a:srgbClr val="ED7D31"/>
                </a:solidFill>
              </a:rPr>
              <a:t>MONTH 36</a:t>
            </a:r>
          </a:p>
          <a:p>
            <a:pPr algn="ctr"/>
            <a:r>
              <a:rPr lang="en-US" sz="1400" dirty="0">
                <a:solidFill>
                  <a:srgbClr val="D9E2F3"/>
                </a:solidFill>
              </a:rPr>
              <a:t>Positive: +1,589M | Base: −2,938M</a:t>
            </a:r>
          </a:p>
        </p:txBody>
      </p:sp>
    </p:spTree>
    <p:extLst>
      <p:ext uri="{BB962C8B-B14F-4D97-AF65-F5344CB8AC3E}">
        <p14:creationId xmlns:p14="http://schemas.microsoft.com/office/powerpoint/2010/main" val="99042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BA0F-F401-36ED-8D31-EF322D2A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The Positive case is not aggressive pricing — it’s execution.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C9C3B-2FDB-DC4E-A09C-7ABE75B1C2FE}"/>
              </a:ext>
            </a:extLst>
          </p:cNvPr>
          <p:cNvSpPr txBox="1"/>
          <p:nvPr/>
        </p:nvSpPr>
        <p:spPr>
          <a:xfrm>
            <a:off x="457200" y="11176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A UGX 4,527M swing in 36-month cumulative outcome driven by access and adoption, not price.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A31061-A167-5441-A8FE-E46F2D854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09669"/>
              </p:ext>
            </p:extLst>
          </p:nvPr>
        </p:nvGraphicFramePr>
        <p:xfrm>
          <a:off x="457200" y="1524000"/>
          <a:ext cx="11277600" cy="253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45755812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05890272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300223936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Lever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Base → Positive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Investment Required</a:t>
                      </a: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01678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Eligibility rate (Central, start)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28% → 35% (+7pp)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Donor/govt programme expansion, NHIS coverage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2658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Provider recommendation (Central, start)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56% → 63% (+7pp)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KOL engagement, HCP training, medical education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4658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Monthly coverage rollout (Central)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2.5% → 3.4% (+35%)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Facility onboarding speed, awareness campaigns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301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Coverage churn (monthly)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0.40% → 0.30% (−25%)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Supply reliability, execution continuity</a:t>
                      </a:r>
                    </a:p>
                  </a:txBody>
                  <a:tcPr anchor="ctr">
                    <a:solidFill>
                      <a:srgbClr val="16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64685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D9E2F3"/>
                          </a:solidFill>
                        </a:rPr>
                        <a:t>Net price per dose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ED7D31"/>
                          </a:solidFill>
                        </a:rPr>
                        <a:t>+8%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i="1">
                          <a:solidFill>
                            <a:srgbClr val="8FAADC"/>
                          </a:solidFill>
                        </a:rPr>
                        <a:t>Price is a follower, not a driver</a:t>
                      </a:r>
                    </a:p>
                  </a:txBody>
                  <a:tcPr anchor="ctr">
                    <a:solidFill>
                      <a:srgbClr val="1B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315392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B0516A-24E3-924B-A3F8-51FCF45332CA}"/>
              </a:ext>
            </a:extLst>
          </p:cNvPr>
          <p:cNvSpPr/>
          <p:nvPr/>
        </p:nvSpPr>
        <p:spPr>
          <a:xfrm>
            <a:off x="457200" y="4826000"/>
            <a:ext cx="3556000" cy="1016000"/>
          </a:xfrm>
          <a:prstGeom prst="roundRect">
            <a:avLst/>
          </a:prstGeom>
          <a:solidFill>
            <a:srgbClr val="162C50"/>
          </a:solidFill>
          <a:ln w="25400" cap="flat" cmpd="sng" algn="ctr">
            <a:solidFill>
              <a:srgbClr val="2E75B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D9E2F3"/>
                </a:solidFill>
              </a:rPr>
              <a:t>Month 36 Revenue: Base
UGX 273M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DC8A8B-AEC5-664D-A653-CE9CDF36E44D}"/>
              </a:ext>
            </a:extLst>
          </p:cNvPr>
          <p:cNvSpPr/>
          <p:nvPr/>
        </p:nvSpPr>
        <p:spPr>
          <a:xfrm>
            <a:off x="4318000" y="4826000"/>
            <a:ext cx="3556000" cy="1016000"/>
          </a:xfrm>
          <a:prstGeom prst="roundRect">
            <a:avLst/>
          </a:prstGeom>
          <a:solidFill>
            <a:srgbClr val="162C50"/>
          </a:solidFill>
          <a:ln w="25400" cap="flat" cmpd="sng" algn="ctr">
            <a:solidFill>
              <a:srgbClr val="ED7D3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D9E2F3"/>
                </a:solidFill>
              </a:rPr>
              <a:t>Month 36 Revenue: Positive
UGX 755M (+2.8×)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F2A225-B614-E842-9B94-F891791A078D}"/>
              </a:ext>
            </a:extLst>
          </p:cNvPr>
          <p:cNvSpPr/>
          <p:nvPr/>
        </p:nvSpPr>
        <p:spPr>
          <a:xfrm>
            <a:off x="8178800" y="4826000"/>
            <a:ext cx="3556000" cy="1016000"/>
          </a:xfrm>
          <a:prstGeom prst="roundRect">
            <a:avLst/>
          </a:prstGeom>
          <a:solidFill>
            <a:srgbClr val="162C50"/>
          </a:solidFill>
          <a:ln w="25400" cap="flat" cmpd="sng" algn="ctr">
            <a:solidFill>
              <a:srgbClr val="4CAF5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D9E2F3"/>
                </a:solidFill>
              </a:rPr>
              <a:t>36-Month Cumulative Swing
UGX 4,527M</a:t>
            </a:r>
          </a:p>
        </p:txBody>
      </p:sp>
    </p:spTree>
    <p:extLst>
      <p:ext uri="{BB962C8B-B14F-4D97-AF65-F5344CB8AC3E}">
        <p14:creationId xmlns:p14="http://schemas.microsoft.com/office/powerpoint/2010/main" val="154622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C12C-00A6-6BDD-0CA6-9557CBC1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To reach the Positive trajectory, three things must be true.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BCE03F-8B7F-344E-9759-62FE97E65930}"/>
              </a:ext>
            </a:extLst>
          </p:cNvPr>
          <p:cNvSpPr txBox="1"/>
          <p:nvPr/>
        </p:nvSpPr>
        <p:spPr>
          <a:xfrm>
            <a:off x="457200" y="1117600"/>
            <a:ext cx="1127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B4C7E7"/>
                </a:solidFill>
              </a:rPr>
              <a:t>Define go/no-go criteria and the investment required to unlock each condition.</a:t>
            </a:r>
          </a:p>
        </p:txBody>
      </p:sp>
      <p:sp>
        <p:nvSpPr>
          <p:cNvPr id="600" name="Num0"/>
          <p:cNvSpPr/>
          <p:nvPr/>
        </p:nvSpPr>
        <p:spPr>
          <a:xfrm>
            <a:off x="1889760" y="13716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1" name="Cond0"/>
          <p:cNvSpPr/>
          <p:nvPr/>
        </p:nvSpPr>
        <p:spPr>
          <a:xfrm>
            <a:off x="335280" y="201168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62C50"/>
          </a:solidFill>
          <a:ln w="15875">
            <a:solidFill>
              <a:srgbClr val="2E75B6"/>
            </a:solidFill>
          </a:ln>
        </p:spPr>
        <p:txBody>
          <a:bodyPr wrap="square" lIns="91440" tIns="91440" rIns="91440" bIns="91440" anchor="t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</a:rPr>
              <a:t>Funding access must expand</a:t>
            </a:r>
          </a:p>
          <a:p>
            <a:pPr algn="ctr">
              <a:spcAft>
                <a:spcPts val="400"/>
              </a:spcAft>
            </a:pPr>
            <a:r>
              <a:rPr lang="en-US" sz="1400" dirty="0">
                <a:solidFill>
                  <a:srgbClr val="ED7D31"/>
                </a:solidFill>
              </a:rPr>
              <a:t>Eligibility: 28% → 35%</a:t>
            </a:r>
          </a:p>
          <a:p>
            <a:pPr algn="ctr"/>
            <a:r>
              <a:rPr lang="en-US" sz="1200" dirty="0">
                <a:solidFill>
                  <a:srgbClr val="B4C7E7"/>
                </a:solidFill>
              </a:rPr>
              <a:t>Confirm NHIS/donor commitment; define coverage expansion roadmap</a:t>
            </a:r>
          </a:p>
        </p:txBody>
      </p:sp>
      <p:sp>
        <p:nvSpPr>
          <p:cNvPr id="602" name="Num1"/>
          <p:cNvSpPr/>
          <p:nvPr/>
        </p:nvSpPr>
        <p:spPr>
          <a:xfrm>
            <a:off x="5821680" y="13716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03" name="Cond1"/>
          <p:cNvSpPr/>
          <p:nvPr/>
        </p:nvSpPr>
        <p:spPr>
          <a:xfrm>
            <a:off x="4267200" y="201168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62C50"/>
          </a:solidFill>
          <a:ln w="15875">
            <a:solidFill>
              <a:srgbClr val="2E75B6"/>
            </a:solidFill>
          </a:ln>
        </p:spPr>
        <p:txBody>
          <a:bodyPr wrap="square" lIns="91440" tIns="91440" rIns="91440" bIns="91440" anchor="t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</a:rPr>
              <a:t>Provider engagement must be sustained</a:t>
            </a:r>
          </a:p>
          <a:p>
            <a:pPr algn="ctr">
              <a:spcAft>
                <a:spcPts val="400"/>
              </a:spcAft>
            </a:pPr>
            <a:r>
              <a:rPr lang="en-US" sz="1400" dirty="0">
                <a:solidFill>
                  <a:srgbClr val="ED7D31"/>
                </a:solidFill>
              </a:rPr>
              <a:t>Recommendation: 56% → 63%</a:t>
            </a:r>
          </a:p>
          <a:p>
            <a:pPr algn="ctr"/>
            <a:r>
              <a:rPr lang="en-US" sz="1200" dirty="0">
                <a:solidFill>
                  <a:srgbClr val="B4C7E7"/>
                </a:solidFill>
              </a:rPr>
              <a:t>Approve KOL programme and HCP training investment</a:t>
            </a:r>
          </a:p>
        </p:txBody>
      </p:sp>
      <p:sp>
        <p:nvSpPr>
          <p:cNvPr id="604" name="Num2"/>
          <p:cNvSpPr/>
          <p:nvPr/>
        </p:nvSpPr>
        <p:spPr>
          <a:xfrm>
            <a:off x="9753600" y="137160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5" name="Cond2"/>
          <p:cNvSpPr/>
          <p:nvPr/>
        </p:nvSpPr>
        <p:spPr>
          <a:xfrm>
            <a:off x="8199120" y="201168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162C50"/>
          </a:solidFill>
          <a:ln w="15875">
            <a:solidFill>
              <a:srgbClr val="2E75B6"/>
            </a:solidFill>
          </a:ln>
        </p:spPr>
        <p:txBody>
          <a:bodyPr wrap="square" lIns="91440" tIns="91440" rIns="91440" bIns="91440" anchor="t"/>
          <a:lstStyle/>
          <a:p>
            <a:pPr algn="ctr">
              <a:spcAft>
                <a:spcPts val="400"/>
              </a:spcAft>
            </a:pPr>
            <a:r>
              <a:rPr lang="en-US" sz="1600" b="1" dirty="0">
                <a:solidFill>
                  <a:srgbClr val="FFFFFF"/>
                </a:solidFill>
              </a:rPr>
              <a:t>Supply chain must be reliable</a:t>
            </a:r>
          </a:p>
          <a:p>
            <a:pPr algn="ctr">
              <a:spcAft>
                <a:spcPts val="400"/>
              </a:spcAft>
            </a:pPr>
            <a:r>
              <a:rPr lang="en-US" sz="1400" dirty="0">
                <a:solidFill>
                  <a:srgbClr val="ED7D31"/>
                </a:solidFill>
              </a:rPr>
              <a:t>Stock availability: 90% → 95%</a:t>
            </a:r>
          </a:p>
          <a:p>
            <a:pPr algn="ctr"/>
            <a:r>
              <a:rPr lang="en-US" sz="1200" dirty="0">
                <a:solidFill>
                  <a:srgbClr val="B4C7E7"/>
                </a:solidFill>
              </a:rPr>
              <a:t>Commit cold-chain and distribution investment</a:t>
            </a:r>
          </a:p>
        </p:txBody>
      </p:sp>
      <p:sp>
        <p:nvSpPr>
          <p:cNvPr id="606" name="MilestoneBar"/>
          <p:cNvSpPr/>
          <p:nvPr/>
        </p:nvSpPr>
        <p:spPr>
          <a:xfrm>
            <a:off x="335280" y="3749040"/>
            <a:ext cx="11521440" cy="457200"/>
          </a:xfrm>
          <a:prstGeom prst="roundRect">
            <a:avLst>
              <a:gd name="adj" fmla="val 10000"/>
            </a:avLst>
          </a:prstGeom>
          <a:solidFill>
            <a:srgbClr val="1B3058"/>
          </a:solidFill>
          <a:ln w="9525">
            <a:solidFill>
              <a:srgbClr val="4CAF50"/>
            </a:solidFill>
          </a:ln>
        </p:spPr>
        <p:txBody>
          <a:bodyPr wrap="square" lIns="91440" tIns="0" rIns="91440" bIns="0" anchor="ctr"/>
          <a:lstStyle/>
          <a:p>
            <a:pPr algn="ctr"/>
            <a:r>
              <a:rPr lang="en-US" sz="1200" b="1" dirty="0">
                <a:solidFill>
                  <a:srgbClr val="4CAF50"/>
                </a:solidFill>
              </a:rPr>
              <a:t>KEY MILESTONES (Positive)   </a:t>
            </a:r>
            <a:r>
              <a:rPr lang="en-US" sz="1200" dirty="0">
                <a:solidFill>
                  <a:srgbClr val="D9E2F3"/>
                </a:solidFill>
              </a:rPr>
              <a:t>Break-even: M16 (+2.8M)  |  Cumulative positive: M28 (+18.2M)  |  M36 run-rate: +252M/mo  |  M36 cumulative: +1,589M</a:t>
            </a:r>
          </a:p>
        </p:txBody>
      </p:sp>
      <p:sp>
        <p:nvSpPr>
          <p:cNvPr id="607" name="CTA"/>
          <p:cNvSpPr/>
          <p:nvPr/>
        </p:nvSpPr>
        <p:spPr>
          <a:xfrm>
            <a:off x="335280" y="4297680"/>
            <a:ext cx="11521440" cy="36576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</p:spPr>
        <p:txBody>
          <a:bodyPr wrap="square" lIns="182880" tIns="0" rIns="18288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Key question for committee: What is the cost of the interventions above, and does that change the model economics?</a:t>
            </a:r>
          </a:p>
        </p:txBody>
      </p:sp>
    </p:spTree>
    <p:extLst>
      <p:ext uri="{BB962C8B-B14F-4D97-AF65-F5344CB8AC3E}">
        <p14:creationId xmlns:p14="http://schemas.microsoft.com/office/powerpoint/2010/main" val="151970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035298433]">
  <a:themeElements>
    <a:clrScheme name="Uganda RSV IC">
      <a:dk1>
        <a:srgbClr val="F2F2F2"/>
      </a:dk1>
      <a:lt1>
        <a:srgbClr val="1F3864"/>
      </a:lt1>
      <a:dk2>
        <a:srgbClr val="B4C7E7"/>
      </a:dk2>
      <a:lt2>
        <a:srgbClr val="162C50"/>
      </a:lt2>
      <a:accent1>
        <a:srgbClr val="2E75B6"/>
      </a:accent1>
      <a:accent2>
        <a:srgbClr val="ED7D31"/>
      </a:accent2>
      <a:accent3>
        <a:srgbClr val="4CAF50"/>
      </a:accent3>
      <a:accent4>
        <a:srgbClr val="B4C7E7"/>
      </a:accent4>
      <a:accent5>
        <a:srgbClr val="F4A460"/>
      </a:accent5>
      <a:accent6>
        <a:srgbClr val="8FAADC"/>
      </a:accent6>
      <a:hlink>
        <a:srgbClr val="2E75B6"/>
      </a:hlink>
      <a:folHlink>
        <a:srgbClr val="8FAADC"/>
      </a:folHlink>
    </a:clrScheme>
    <a:fontScheme name="Calibri Them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236892-5771-4A43-BFC1-0674BC815649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47870a83-6fb4-49c2-9f3f-49062fd724f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1052</Words>
  <Application>Microsoft Macintosh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 [1777035298433]</vt:lpstr>
      <vt:lpstr>Uganda RSV Vaccine: Market Entry Scenarios</vt:lpstr>
      <vt:lpstr>~1.75M births/year. Uganda is a real RSV market.</vt:lpstr>
      <vt:lpstr>Revenue is a product of 5 conversion steps — each one is a lever.</vt:lpstr>
      <vt:lpstr>What changes between Base and Positive? Execution discipline, not price.</vt:lpstr>
      <vt:lpstr>Positive revenue grows 28× over 36 months; Base grows 17×.</vt:lpstr>
      <vt:lpstr>Fixed costs dominate early; variable costs scale with volume.</vt:lpstr>
      <vt:lpstr>Base never breaks even. Positive crosses zero at Month 16.</vt:lpstr>
      <vt:lpstr>Peak cash requirement is similar — but the return on that investment is entirely different.</vt:lpstr>
      <vt:lpstr>The Positive case is not aggressive pricing — it’s execution.</vt:lpstr>
      <vt:lpstr>To reach the Positive trajectory, three things must be true.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Barker</dc:creator>
  <cp:lastModifiedBy>Chris Barker</cp:lastModifiedBy>
  <cp:revision>2</cp:revision>
  <dcterms:created xsi:type="dcterms:W3CDTF">2026-04-24T12:49:52Z</dcterms:created>
  <dcterms:modified xsi:type="dcterms:W3CDTF">2026-04-24T13:05:19Z</dcterms:modified>
</cp:coreProperties>
</file>