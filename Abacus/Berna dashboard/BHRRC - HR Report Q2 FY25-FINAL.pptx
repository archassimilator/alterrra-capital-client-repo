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72" r:id="rId7"/>
    <p:sldId id="262" r:id="rId8"/>
    <p:sldId id="260" r:id="rId9"/>
    <p:sldId id="263" r:id="rId10"/>
    <p:sldId id="264" r:id="rId11"/>
    <p:sldId id="271" r:id="rId12"/>
    <p:sldId id="270" r:id="rId13"/>
    <p:sldId id="265" r:id="rId14"/>
    <p:sldId id="273" r:id="rId15"/>
    <p:sldId id="267" r:id="rId16"/>
    <p:sldId id="268" r:id="rId17"/>
    <p:sldId id="275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iX+0Y41ZgN/QUS4i3/oD8/a5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97E9"/>
    <a:srgbClr val="42C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F9D5AF-3310-4AC1-8CEB-CD1EFFDE9C15}" v="12" dt="2025-10-15T05:55:22.986"/>
  </p1510:revLst>
</p1510:revInfo>
</file>

<file path=ppt/tableStyles.xml><?xml version="1.0" encoding="utf-8"?>
<a:tblStyleLst xmlns:a="http://schemas.openxmlformats.org/drawingml/2006/main" def="{CAEEF936-BCFE-4613-9C03-EC2DC5AF48BE}">
  <a:tblStyle styleId="{CAEEF936-BCFE-4613-9C03-EC2DC5AF48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3B398F-89EE-4A02-95FF-B6B2B5F87C9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9"/>
          </a:solidFill>
        </a:fill>
      </a:tcStyle>
    </a:wholeTbl>
    <a:band1H>
      <a:tcTxStyle/>
      <a:tcStyle>
        <a:tcBdr/>
        <a:fill>
          <a:solidFill>
            <a:srgbClr val="CCD2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2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49" autoAdjust="0"/>
  </p:normalViewPr>
  <p:slideViewPr>
    <p:cSldViewPr snapToGrid="0">
      <p:cViewPr varScale="1">
        <p:scale>
          <a:sx n="76" d="100"/>
          <a:sy n="76" d="100"/>
        </p:scale>
        <p:origin x="6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customschemas.google.com/relationships/presentationmetadata" Target="metadata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Rwanda Turnover always looks high because of the base. In actual sense, they only lost two(2) staff</a:t>
            </a: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E5FB6D2-9C02-EA9A-43C8-73C9778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>
            <a:extLst>
              <a:ext uri="{FF2B5EF4-FFF2-40B4-BE49-F238E27FC236}">
                <a16:creationId xmlns:a16="http://schemas.microsoft.com/office/drawing/2014/main" id="{094A05BE-60C5-2064-753A-220A9456D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Signed on three (3) New recruitment firms to support with sourcing of candidates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delay in filling ABM positions is attributed to the low salary offer but this has since been revised. </a:t>
            </a:r>
            <a:endParaRPr dirty="0"/>
          </a:p>
        </p:txBody>
      </p:sp>
      <p:sp>
        <p:nvSpPr>
          <p:cNvPr id="202" name="Google Shape;202;p6:notes">
            <a:extLst>
              <a:ext uri="{FF2B5EF4-FFF2-40B4-BE49-F238E27FC236}">
                <a16:creationId xmlns:a16="http://schemas.microsoft.com/office/drawing/2014/main" id="{0B86FB96-B055-DB21-EF5E-0367919CB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495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Health Talks on Mental Health, Nutrition conducted for all staff across the group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Tests included: HIV, Blood Sugar, Hepatitis B, Blood donation drive- Open to staff and their families and the neighbouring communities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Partners: Jubilee Health, KCCA and Uganda Blood Bank </a:t>
            </a:r>
            <a:endParaRPr dirty="0"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D35BF14C-6299-E302-BEED-9E9D5E18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>
            <a:extLst>
              <a:ext uri="{FF2B5EF4-FFF2-40B4-BE49-F238E27FC236}">
                <a16:creationId xmlns:a16="http://schemas.microsoft.com/office/drawing/2014/main" id="{9F0016FB-47DF-F9E6-0514-BE377DBC0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195" name="Google Shape;195;p5:notes">
            <a:extLst>
              <a:ext uri="{FF2B5EF4-FFF2-40B4-BE49-F238E27FC236}">
                <a16:creationId xmlns:a16="http://schemas.microsoft.com/office/drawing/2014/main" id="{232371E3-E5D6-9673-D036-F713BB59A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6105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553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DA33CB0C-4D1E-2CC9-8C79-470749BF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1E1ED0D0-A01C-6746-C34D-492A1F3AB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>
            <a:extLst>
              <a:ext uri="{FF2B5EF4-FFF2-40B4-BE49-F238E27FC236}">
                <a16:creationId xmlns:a16="http://schemas.microsoft.com/office/drawing/2014/main" id="{F018C285-30AE-176D-1738-3355BF6C3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8485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Average Years of service for regrettable exits is 5.7 years </a:t>
            </a:r>
            <a:endParaRPr b="1" dirty="0"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Although these positions were planned for Q2, focus was on the critical roles that fell vacant in Q1 &amp; Q2 through voluntary exits and red sea project </a:t>
            </a:r>
            <a:endParaRPr dirty="0"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9911569-B21A-AC60-E60C-6B93245E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>
            <a:extLst>
              <a:ext uri="{FF2B5EF4-FFF2-40B4-BE49-F238E27FC236}">
                <a16:creationId xmlns:a16="http://schemas.microsoft.com/office/drawing/2014/main" id="{039E0957-6F03-ED8B-E668-6702BEFC6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>
            <a:extLst>
              <a:ext uri="{FF2B5EF4-FFF2-40B4-BE49-F238E27FC236}">
                <a16:creationId xmlns:a16="http://schemas.microsoft.com/office/drawing/2014/main" id="{B9E9995C-31BD-60E6-C397-AA1001302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6412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A316852-632B-AEAD-40BE-B5449B38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>
            <a:extLst>
              <a:ext uri="{FF2B5EF4-FFF2-40B4-BE49-F238E27FC236}">
                <a16:creationId xmlns:a16="http://schemas.microsoft.com/office/drawing/2014/main" id="{F9D58767-5894-99C0-C3AF-EC73CC668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>
            <a:extLst>
              <a:ext uri="{FF2B5EF4-FFF2-40B4-BE49-F238E27FC236}">
                <a16:creationId xmlns:a16="http://schemas.microsoft.com/office/drawing/2014/main" id="{E39E44F9-BA53-0ADA-043B-FF7B39DFC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194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1030940" y="365125"/>
            <a:ext cx="10322859" cy="52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3600"/>
              <a:buFont typeface="Calibri"/>
              <a:buNone/>
              <a:defRPr sz="3600">
                <a:solidFill>
                  <a:srgbClr val="00808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1030940" y="1253330"/>
            <a:ext cx="10515600" cy="4770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00"/>
              </a:buClr>
              <a:buSzPts val="2800"/>
              <a:buChar char="•"/>
              <a:defRPr>
                <a:solidFill>
                  <a:srgbClr val="0066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00"/>
              </a:buClr>
              <a:buSzPts val="2400"/>
              <a:buChar char="•"/>
              <a:defRPr>
                <a:solidFill>
                  <a:srgbClr val="006600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00"/>
              </a:buClr>
              <a:buSzPts val="2000"/>
              <a:buChar char="•"/>
              <a:defRPr>
                <a:solidFill>
                  <a:srgbClr val="006600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00"/>
              </a:buClr>
              <a:buSzPts val="1800"/>
              <a:buChar char="•"/>
              <a:defRPr>
                <a:solidFill>
                  <a:srgbClr val="006600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600"/>
              </a:buClr>
              <a:buSzPts val="1800"/>
              <a:buChar char="•"/>
              <a:defRPr>
                <a:solidFill>
                  <a:srgbClr val="0066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36973" y="445771"/>
            <a:ext cx="94843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ctrTitle"/>
          </p:nvPr>
        </p:nvSpPr>
        <p:spPr>
          <a:xfrm>
            <a:off x="1057835" y="315540"/>
            <a:ext cx="6929717" cy="6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3600"/>
              <a:buFont typeface="Calibri"/>
              <a:buNone/>
              <a:defRPr sz="3600">
                <a:solidFill>
                  <a:srgbClr val="00808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ubTitle" idx="1"/>
          </p:nvPr>
        </p:nvSpPr>
        <p:spPr>
          <a:xfrm>
            <a:off x="1057835" y="1325002"/>
            <a:ext cx="10076330" cy="469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Arial"/>
              <a:buChar char="•"/>
              <a:defRPr sz="2000">
                <a:solidFill>
                  <a:srgbClr val="0066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6000"/>
              <a:buFont typeface="Calibri"/>
              <a:buNone/>
              <a:defRPr sz="6000">
                <a:solidFill>
                  <a:srgbClr val="00808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00"/>
              </a:buClr>
              <a:buSzPts val="2400"/>
              <a:buNone/>
              <a:defRPr sz="2400">
                <a:solidFill>
                  <a:srgbClr val="0066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2000"/>
              <a:buNone/>
              <a:defRPr sz="2000">
                <a:solidFill>
                  <a:srgbClr val="9190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800"/>
              <a:buNone/>
              <a:defRPr sz="1800">
                <a:solidFill>
                  <a:srgbClr val="9190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600"/>
              <a:buNone/>
              <a:defRPr sz="1600">
                <a:solidFill>
                  <a:srgbClr val="9190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600"/>
              <a:buNone/>
              <a:defRPr sz="1600">
                <a:solidFill>
                  <a:srgbClr val="9190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600"/>
              <a:buNone/>
              <a:defRPr sz="1600">
                <a:solidFill>
                  <a:srgbClr val="9190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600"/>
              <a:buNone/>
              <a:defRPr sz="1600">
                <a:solidFill>
                  <a:srgbClr val="9190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600"/>
              <a:buNone/>
              <a:defRPr sz="1600">
                <a:solidFill>
                  <a:srgbClr val="9190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091"/>
              </a:buClr>
              <a:buSzPts val="1600"/>
              <a:buNone/>
              <a:defRPr sz="1600">
                <a:solidFill>
                  <a:srgbClr val="91909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0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15">
            <a:alphaModFix/>
          </a:blip>
          <a:srcRect l="36144" t="28889" r="34183" b="60392"/>
          <a:stretch/>
        </p:blipFill>
        <p:spPr>
          <a:xfrm>
            <a:off x="8341302" y="156414"/>
            <a:ext cx="1501947" cy="54255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.xls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" descr="https://brandspace.deloitte.com/downloads/57d6e428cca1d/lg_Growth_TreeRoots_Finalart.ep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409" y="1462861"/>
            <a:ext cx="4037162" cy="393227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 txBox="1"/>
          <p:nvPr/>
        </p:nvSpPr>
        <p:spPr>
          <a:xfrm>
            <a:off x="5572664" y="3027381"/>
            <a:ext cx="6533072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rebuchet MS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Group HR Report Q2 FY2</a:t>
            </a:r>
            <a:r>
              <a:rPr lang="en-US" sz="3200" b="1" dirty="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UG" sz="18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lang="en-US" sz="1800" b="1" dirty="0">
                <a:latin typeface="Trebuchet MS"/>
                <a:ea typeface="Trebuchet MS"/>
                <a:cs typeface="Trebuchet MS"/>
                <a:sym typeface="Trebuchet MS"/>
              </a:rPr>
              <a:t>23</a:t>
            </a:r>
            <a:r>
              <a:rPr lang="en-US" sz="1800" b="1" baseline="30000" dirty="0">
                <a:latin typeface="Trebuchet MS"/>
                <a:ea typeface="Trebuchet MS"/>
                <a:cs typeface="Trebuchet MS"/>
                <a:sym typeface="Trebuchet MS"/>
              </a:rPr>
              <a:t>rd</a:t>
            </a:r>
            <a:r>
              <a:rPr lang="en-US" sz="1800" b="1" dirty="0">
                <a:latin typeface="Trebuchet MS"/>
                <a:ea typeface="Trebuchet MS"/>
                <a:cs typeface="Trebuchet MS"/>
                <a:sym typeface="Trebuchet MS"/>
              </a:rPr>
              <a:t> July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2025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UG" sz="18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Berna Frances Arinaitwe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dirty="0">
                <a:latin typeface="Trebuchet MS"/>
                <a:ea typeface="Trebuchet MS"/>
                <a:cs typeface="Trebuchet MS"/>
                <a:sym typeface="Trebuchet MS"/>
              </a:rPr>
              <a:t>Ag. GCHRO </a:t>
            </a:r>
            <a:endParaRPr lang="en-UG" sz="18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title"/>
          </p:nvPr>
        </p:nvSpPr>
        <p:spPr>
          <a:xfrm>
            <a:off x="109269" y="812994"/>
            <a:ext cx="12082732" cy="522288"/>
          </a:xfrm>
          <a:prstGeom prst="rect">
            <a:avLst/>
          </a:prstGeom>
          <a:solidFill>
            <a:srgbClr val="1634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800" b="1">
                <a:solidFill>
                  <a:srgbClr val="37FFD5"/>
                </a:solidFill>
                <a:latin typeface="Trebuchet MS"/>
                <a:ea typeface="Trebuchet MS"/>
                <a:cs typeface="Trebuchet MS"/>
                <a:sym typeface="Trebuchet MS"/>
              </a:rPr>
              <a:t>Table of Contents</a:t>
            </a:r>
            <a:endParaRPr sz="2800" b="1">
              <a:solidFill>
                <a:srgbClr val="37FFD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83389" y="1436167"/>
            <a:ext cx="12025222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</a:pPr>
            <a:r>
              <a:rPr lang="en-US" sz="22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HR Q2 FY25 –Summary Report–(Group Headcounts, MPC/BTO Ratio, Attrition).</a:t>
            </a:r>
          </a:p>
          <a:p>
            <a:pPr marL="342900" lvl="0" indent="-342900">
              <a:lnSpc>
                <a:spcPct val="150000"/>
              </a:lnSpc>
              <a:buSzPts val="2000"/>
              <a:buFont typeface="Arial"/>
              <a:buAutoNum type="arabicParenR"/>
            </a:pPr>
            <a:r>
              <a:rPr lang="en-US" sz="22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Key HR highlights- Recruitments, Performance Management, Disciplinary, L&amp;D, </a:t>
            </a:r>
            <a:r>
              <a:rPr lang="en-US" sz="22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Staff Engagements.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</a:pPr>
            <a:r>
              <a:rPr lang="en-US" sz="22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Red Sea-implementation update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</a:pPr>
            <a:r>
              <a:rPr lang="en-US" sz="22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Re</a:t>
            </a:r>
            <a:r>
              <a:rPr lang="en-US" sz="22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quest to the Board</a:t>
            </a:r>
            <a:endParaRPr sz="22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2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117756" y="896837"/>
            <a:ext cx="11996468" cy="522288"/>
          </a:xfrm>
          <a:prstGeom prst="rect">
            <a:avLst/>
          </a:prstGeom>
          <a:solidFill>
            <a:srgbClr val="214E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1. Group Headcount – Q2 FY25</a:t>
            </a:r>
            <a:endParaRPr sz="2400" b="1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6238658" y="1560265"/>
            <a:ext cx="5755432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Total Ave. Group Head count as at end of Q2 FY25 was 1,173</a:t>
            </a:r>
            <a:r>
              <a:rPr lang="en-US" sz="1400" b="1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direct employees compared to 1,168 in Q2 FY2</a:t>
            </a:r>
            <a:r>
              <a:rPr lang="en-US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40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With all indirect employees (Casuals, Outsourced Security, and Principals) the total Ave. </a:t>
            </a:r>
            <a:r>
              <a:rPr lang="en-US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H</a:t>
            </a:r>
            <a:r>
              <a:rPr lang="en-US" sz="14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ead count for Q2 FY25 was 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2,140 vs 2,114 </a:t>
            </a:r>
            <a:r>
              <a:rPr lang="en-US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in Q2 FY24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Head count has grow</a:t>
            </a:r>
            <a:r>
              <a:rPr lang="en-US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by </a:t>
            </a:r>
            <a:r>
              <a:rPr lang="en-US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.5% compared to </a:t>
            </a:r>
            <a:r>
              <a:rPr lang="en-US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0.95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 in the previous year indicating good control on payroll costs. This is also the lowest in the last 4 years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sz="14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indent="-285750">
              <a:buSzPts val="2000"/>
              <a:buFont typeface="Arial"/>
              <a:buChar char="•"/>
            </a:pPr>
            <a:r>
              <a:rPr lang="en-GB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Slight (1%) decline in gender diversity from 26% female direct employees to 25% in Q2 FY25 . With all Headcounts (direct &amp; indirect), the gender split is 30% female and 70% male. </a:t>
            </a:r>
          </a:p>
          <a:p>
            <a:pPr>
              <a:buSzPts val="2000"/>
            </a:pPr>
            <a:endParaRPr sz="1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Maintained a staffing level of 10% expatriates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14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Detailed manpower Headcount is attached as </a:t>
            </a:r>
            <a:r>
              <a:rPr lang="en-US" sz="1400" b="1" i="1" u="sng" strike="noStrike" cap="none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 1. </a:t>
            </a:r>
            <a:endParaRPr sz="1400" b="1" i="1" u="none" strike="noStrike" cap="none" dirty="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8DB004-C666-89B2-670D-C87D39B7C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56" y="1671145"/>
            <a:ext cx="5978244" cy="3970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>
            <a:spLocks noGrp="1"/>
          </p:cNvSpPr>
          <p:nvPr>
            <p:ph type="title"/>
          </p:nvPr>
        </p:nvSpPr>
        <p:spPr>
          <a:xfrm>
            <a:off x="302691" y="954656"/>
            <a:ext cx="11780041" cy="466869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1.1. MPC/BTO ratio</a:t>
            </a: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Attrition</a:t>
            </a:r>
            <a:endParaRPr sz="2400" b="1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903791" y="1664052"/>
            <a:ext cx="617894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MPC/BTO ratio for Q2 FY25 </a:t>
            </a: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at 6.8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 compared to 6.6% </a:t>
            </a: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last year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and above budget of </a:t>
            </a: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5.9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%. This </a:t>
            </a: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is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attributed to the payouts made to staff that exited through Red Sea and the Group performance in the last quarter.</a:t>
            </a:r>
            <a:endParaRPr sz="1600" b="0" i="0" u="none" strike="noStrike" cap="none" dirty="0">
              <a:solidFill>
                <a:srgbClr val="41404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5857782" y="4744298"/>
            <a:ext cx="6081176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Group Q2 YTD attrition was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1.4% </a:t>
            </a: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compared to 2.3% in Q2 FY24.</a:t>
            </a:r>
            <a:r>
              <a:rPr lang="en-US" sz="16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 There is significant reduction in turnover across the Group indicating stability.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Group attrition is still below the targeted levels of not more than 6%. A list of regrettable exits has been attached to this report as </a:t>
            </a:r>
            <a:r>
              <a:rPr lang="en-US" sz="1600" b="0" i="1" u="sng" strike="noStrike" cap="none" dirty="0">
                <a:solidFill>
                  <a:srgbClr val="00647F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 2</a:t>
            </a:r>
            <a:r>
              <a:rPr lang="en-US" sz="1600" b="0" i="0" u="sng" strike="noStrike" cap="none" dirty="0">
                <a:solidFill>
                  <a:srgbClr val="00647F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sz="1600" b="0" i="0" u="none" strike="noStrike" cap="none" dirty="0">
              <a:solidFill>
                <a:srgbClr val="0064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0AD987-BE78-B56D-26C4-7AC471013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478679"/>
              </p:ext>
            </p:extLst>
          </p:nvPr>
        </p:nvGraphicFramePr>
        <p:xfrm>
          <a:off x="359454" y="4584091"/>
          <a:ext cx="5360277" cy="2042293"/>
        </p:xfrm>
        <a:graphic>
          <a:graphicData uri="http://schemas.openxmlformats.org/drawingml/2006/table">
            <a:tbl>
              <a:tblPr/>
              <a:tblGrid>
                <a:gridCol w="1824094">
                  <a:extLst>
                    <a:ext uri="{9D8B030D-6E8A-4147-A177-3AD203B41FA5}">
                      <a16:colId xmlns:a16="http://schemas.microsoft.com/office/drawing/2014/main" val="3485921938"/>
                    </a:ext>
                  </a:extLst>
                </a:gridCol>
                <a:gridCol w="1104057">
                  <a:extLst>
                    <a:ext uri="{9D8B030D-6E8A-4147-A177-3AD203B41FA5}">
                      <a16:colId xmlns:a16="http://schemas.microsoft.com/office/drawing/2014/main" val="1697977890"/>
                    </a:ext>
                  </a:extLst>
                </a:gridCol>
                <a:gridCol w="1168060">
                  <a:extLst>
                    <a:ext uri="{9D8B030D-6E8A-4147-A177-3AD203B41FA5}">
                      <a16:colId xmlns:a16="http://schemas.microsoft.com/office/drawing/2014/main" val="1201121824"/>
                    </a:ext>
                  </a:extLst>
                </a:gridCol>
                <a:gridCol w="1264066">
                  <a:extLst>
                    <a:ext uri="{9D8B030D-6E8A-4147-A177-3AD203B41FA5}">
                      <a16:colId xmlns:a16="http://schemas.microsoft.com/office/drawing/2014/main" val="1317345997"/>
                    </a:ext>
                  </a:extLst>
                </a:gridCol>
              </a:tblGrid>
              <a:tr h="302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Business Unit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8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Q2 FY24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8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Q2 FY25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8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Variance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8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99979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Uganda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1.7%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0.8%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-0.9%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886307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APDL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1.8%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1.8%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498449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Tanzania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0.5%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0.4%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-0.1%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43975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Rwanda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2.7%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5.5%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2.8%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85522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Burundi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1.6%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-1.6%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195936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Kenya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5.6%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-5.6%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44748"/>
                  </a:ext>
                </a:extLst>
              </a:tr>
              <a:tr h="2391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Group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2.3%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1.4%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-0.9%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19492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07786C3-3FA2-3369-B1C9-932BAFFD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91" y="1542689"/>
            <a:ext cx="5451542" cy="29202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36765874-B723-3A70-2657-7EB4DD98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>
            <a:extLst>
              <a:ext uri="{FF2B5EF4-FFF2-40B4-BE49-F238E27FC236}">
                <a16:creationId xmlns:a16="http://schemas.microsoft.com/office/drawing/2014/main" id="{99C8B5B9-07AF-B3EF-3EB4-30BA80DD9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5772" y="859221"/>
            <a:ext cx="11580697" cy="476794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 Group Recruitments and promotions</a:t>
            </a:r>
            <a:endParaRPr sz="2400" b="1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6">
            <a:extLst>
              <a:ext uri="{FF2B5EF4-FFF2-40B4-BE49-F238E27FC236}">
                <a16:creationId xmlns:a16="http://schemas.microsoft.com/office/drawing/2014/main" id="{EFBB7175-393D-846D-FB38-544E2353D87C}"/>
              </a:ext>
            </a:extLst>
          </p:cNvPr>
          <p:cNvSpPr txBox="1"/>
          <p:nvPr/>
        </p:nvSpPr>
        <p:spPr>
          <a:xfrm>
            <a:off x="6234320" y="1336015"/>
            <a:ext cx="5772149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A total of 97 staff were recruited across the Group in Q2 FY25.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US" sz="16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Out of the total </a:t>
            </a: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59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Q3 FY25 planned </a:t>
            </a:r>
            <a:r>
              <a:rPr lang="en-US" sz="1600" b="0" i="0" u="none" strike="noStrike" cap="none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recruitments, </a:t>
            </a:r>
            <a:r>
              <a:rPr lang="en-US" sz="160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24</a:t>
            </a:r>
            <a:r>
              <a:rPr lang="en-US" sz="1600" b="0" i="0" u="none" strike="noStrike" cap="none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600" b="0" i="0" u="none" strike="noStrike" cap="none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have </a:t>
            </a: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been filled successfully representing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25</a:t>
            </a: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% performance. </a:t>
            </a:r>
            <a:endParaRPr dirty="0"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16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Additionally, 75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positions filled </a:t>
            </a:r>
            <a:r>
              <a:rPr lang="en-US" sz="16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in Q2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were unplanned recruitments necessitated by exits YTD. 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16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Recruitment for the pending positions is in advanced stages</a:t>
            </a:r>
            <a:r>
              <a:rPr lang="en-US" sz="1600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 with most staff expected to report in Q3.</a:t>
            </a:r>
            <a:endParaRPr dirty="0"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16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Four (4)</a:t>
            </a:r>
            <a:r>
              <a:rPr lang="en-US" sz="1600" b="0" i="0" u="none" strike="noStrike" cap="none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 employees were promoted to different positions in APL-Uganda and APDL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600" b="0" i="0" u="none" strike="noStrike" cap="none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Ten (10) employees were transferred in APL Uganda to enhance performance. </a:t>
            </a:r>
            <a:endParaRPr dirty="0"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1600" b="0" i="0" u="none" strike="noStrike" cap="none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The lists for recruitments Q2 FY25 have been attached </a:t>
            </a:r>
            <a:r>
              <a:rPr lang="en-US" sz="16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to</a:t>
            </a:r>
            <a:r>
              <a:rPr lang="en-US" sz="1600" b="0" i="0" u="none" strike="noStrike" cap="none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 this report as </a:t>
            </a:r>
            <a:r>
              <a:rPr lang="en-US" sz="1600" b="0" i="1" u="sng" strike="noStrike" cap="none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 3</a:t>
            </a:r>
            <a:r>
              <a:rPr lang="en-US" sz="1600" b="0" i="1" u="sng" strike="noStrike" cap="none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 b="0" i="1" u="none" strike="noStrike" cap="none" dirty="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320EA-E633-B032-A4FB-CEDBC4220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57" y="1515291"/>
            <a:ext cx="5772149" cy="498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0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animBg="1"/>
      <p:bldP spid="2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>
            <a:spLocks noGrp="1"/>
          </p:cNvSpPr>
          <p:nvPr>
            <p:ph type="title"/>
          </p:nvPr>
        </p:nvSpPr>
        <p:spPr>
          <a:xfrm>
            <a:off x="293286" y="871900"/>
            <a:ext cx="11605427" cy="52228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2.1.Disciplinary Management</a:t>
            </a:r>
            <a:endParaRPr sz="2400" b="1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38014" y="1481543"/>
            <a:ext cx="11760697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Revised the Disciplinary Code to align with the employment laws and new business developments across the Group.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2000" b="1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     Key Highlights of the new Disciplinary Code: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Introduced guiding principles/sentencing guidelines, new offences, separated previously merged offences with distinct essential elements, Offences increased from 15-30.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The New Disciplinary Code was communicated to staff and became effective on 1</a:t>
            </a:r>
            <a:r>
              <a:rPr lang="en-US" sz="2000" baseline="30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st</a:t>
            </a:r>
            <a:r>
              <a:rPr lang="en-US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 July 2025</a:t>
            </a:r>
            <a:r>
              <a:rPr lang="en-US" sz="2000" b="1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8C7041-5386-C6B8-E63A-19C26CFA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332338"/>
              </p:ext>
            </p:extLst>
          </p:nvPr>
        </p:nvGraphicFramePr>
        <p:xfrm>
          <a:off x="293286" y="3507850"/>
          <a:ext cx="11605424" cy="1588475"/>
        </p:xfrm>
        <a:graphic>
          <a:graphicData uri="http://schemas.openxmlformats.org/drawingml/2006/table">
            <a:tbl>
              <a:tblPr/>
              <a:tblGrid>
                <a:gridCol w="3873831">
                  <a:extLst>
                    <a:ext uri="{9D8B030D-6E8A-4147-A177-3AD203B41FA5}">
                      <a16:colId xmlns:a16="http://schemas.microsoft.com/office/drawing/2014/main" val="2820690204"/>
                    </a:ext>
                  </a:extLst>
                </a:gridCol>
                <a:gridCol w="1012662">
                  <a:extLst>
                    <a:ext uri="{9D8B030D-6E8A-4147-A177-3AD203B41FA5}">
                      <a16:colId xmlns:a16="http://schemas.microsoft.com/office/drawing/2014/main" val="1722587258"/>
                    </a:ext>
                  </a:extLst>
                </a:gridCol>
                <a:gridCol w="1157326">
                  <a:extLst>
                    <a:ext uri="{9D8B030D-6E8A-4147-A177-3AD203B41FA5}">
                      <a16:colId xmlns:a16="http://schemas.microsoft.com/office/drawing/2014/main" val="971799079"/>
                    </a:ext>
                  </a:extLst>
                </a:gridCol>
                <a:gridCol w="884071">
                  <a:extLst>
                    <a:ext uri="{9D8B030D-6E8A-4147-A177-3AD203B41FA5}">
                      <a16:colId xmlns:a16="http://schemas.microsoft.com/office/drawing/2014/main" val="125230902"/>
                    </a:ext>
                  </a:extLst>
                </a:gridCol>
                <a:gridCol w="1334142">
                  <a:extLst>
                    <a:ext uri="{9D8B030D-6E8A-4147-A177-3AD203B41FA5}">
                      <a16:colId xmlns:a16="http://schemas.microsoft.com/office/drawing/2014/main" val="3287598037"/>
                    </a:ext>
                  </a:extLst>
                </a:gridCol>
                <a:gridCol w="1189474">
                  <a:extLst>
                    <a:ext uri="{9D8B030D-6E8A-4147-A177-3AD203B41FA5}">
                      <a16:colId xmlns:a16="http://schemas.microsoft.com/office/drawing/2014/main" val="2373187480"/>
                    </a:ext>
                  </a:extLst>
                </a:gridCol>
                <a:gridCol w="1205551">
                  <a:extLst>
                    <a:ext uri="{9D8B030D-6E8A-4147-A177-3AD203B41FA5}">
                      <a16:colId xmlns:a16="http://schemas.microsoft.com/office/drawing/2014/main" val="2236963244"/>
                    </a:ext>
                  </a:extLst>
                </a:gridCol>
                <a:gridCol w="948367">
                  <a:extLst>
                    <a:ext uri="{9D8B030D-6E8A-4147-A177-3AD203B41FA5}">
                      <a16:colId xmlns:a16="http://schemas.microsoft.com/office/drawing/2014/main" val="4119850562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Q2 FY25 Disciplinary Report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99594"/>
                  </a:ext>
                </a:extLst>
              </a:tr>
              <a:tr h="352965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G" sz="1600" b="1" i="0" u="none" strike="noStrike" cap="none" dirty="0">
                        <a:solidFill>
                          <a:srgbClr val="FFFFFF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Group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Uganda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  APDL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Tanzania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Rwanda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Burundi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800" b="1" i="0" u="none" strike="noStrike" cap="non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Kenya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906588"/>
                  </a:ext>
                </a:extLst>
              </a:tr>
              <a:tr h="305001"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 dirty="0">
                          <a:effectLst/>
                          <a:latin typeface="Trebuchet MS" panose="020B0603020202020204" pitchFamily="34" charset="0"/>
                        </a:rPr>
                        <a:t>Group number of Cases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32</a:t>
                      </a:r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15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401973"/>
                  </a:ext>
                </a:extLst>
              </a:tr>
              <a:tr h="381869"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 dirty="0">
                          <a:effectLst/>
                          <a:latin typeface="Trebuchet MS" panose="020B0603020202020204" pitchFamily="34" charset="0"/>
                        </a:rPr>
                        <a:t>Pending/Open cases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107142"/>
                  </a:ext>
                </a:extLst>
              </a:tr>
              <a:tr h="255830"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 dirty="0">
                          <a:effectLst/>
                          <a:latin typeface="Trebuchet MS" panose="020B0603020202020204" pitchFamily="34" charset="0"/>
                        </a:rPr>
                        <a:t>Closed cases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24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G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14288" marR="14288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99545"/>
                  </a:ext>
                </a:extLst>
              </a:tr>
            </a:tbl>
          </a:graphicData>
        </a:graphic>
      </p:graphicFrame>
      <p:sp>
        <p:nvSpPr>
          <p:cNvPr id="9" name="Google Shape;212;p7">
            <a:extLst>
              <a:ext uri="{FF2B5EF4-FFF2-40B4-BE49-F238E27FC236}">
                <a16:creationId xmlns:a16="http://schemas.microsoft.com/office/drawing/2014/main" id="{FEEC792F-3A04-5174-E863-44E05168558A}"/>
              </a:ext>
            </a:extLst>
          </p:cNvPr>
          <p:cNvSpPr txBox="1"/>
          <p:nvPr/>
        </p:nvSpPr>
        <p:spPr>
          <a:xfrm>
            <a:off x="138014" y="5183680"/>
            <a:ext cx="11760697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Clr>
                <a:srgbClr val="414042"/>
              </a:buClr>
              <a:buSzPts val="1600"/>
              <a:buAutoNum type="arabicPeriod"/>
            </a:pPr>
            <a:r>
              <a:rPr lang="en-GB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The cases handled in Q2 involved </a:t>
            </a:r>
            <a:r>
              <a:rPr lang="en-GB" sz="2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32</a:t>
            </a:r>
            <a:r>
              <a:rPr lang="en-GB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 staff compared to 11 in FY24.</a:t>
            </a:r>
          </a:p>
          <a:p>
            <a:pPr marL="457200" indent="-457200">
              <a:buClr>
                <a:srgbClr val="414042"/>
              </a:buClr>
              <a:buSzPts val="1600"/>
              <a:buAutoNum type="arabicPeriod"/>
            </a:pPr>
            <a:r>
              <a:rPr lang="en-GB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Of these, 22 cases were from Commercial, 4 from Supply Chain, 4 Quality and 2 from production departments</a:t>
            </a:r>
          </a:p>
          <a:p>
            <a:pPr marL="457200" indent="-457200">
              <a:buClr>
                <a:srgbClr val="414042"/>
              </a:buClr>
              <a:buSzPts val="1600"/>
              <a:buAutoNum type="arabicPeriod"/>
            </a:pPr>
            <a:r>
              <a:rPr lang="en-GB" sz="2000" dirty="0">
                <a:solidFill>
                  <a:srgbClr val="202020"/>
                </a:solidFill>
                <a:latin typeface="Trebuchet MS"/>
                <a:ea typeface="Trebuchet MS"/>
                <a:cs typeface="Trebuchet MS"/>
                <a:sym typeface="Trebuchet MS"/>
              </a:rPr>
              <a:t>17 cases resulted into cessation of employment as listed in </a:t>
            </a:r>
            <a:r>
              <a:rPr lang="en-US" b="1" i="1" u="sng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 4.</a:t>
            </a:r>
            <a:r>
              <a:rPr lang="en-US" sz="2000" b="1" i="1" u="sng" dirty="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GB" sz="2000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Clr>
                <a:srgbClr val="414042"/>
              </a:buClr>
              <a:buSzPts val="1600"/>
            </a:pPr>
            <a:endParaRPr lang="en-GB" sz="2000" dirty="0">
              <a:solidFill>
                <a:srgbClr val="20202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  <p:bldP spid="212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>
            <a:spLocks noGrp="1"/>
          </p:cNvSpPr>
          <p:nvPr>
            <p:ph type="title"/>
          </p:nvPr>
        </p:nvSpPr>
        <p:spPr>
          <a:xfrm>
            <a:off x="271253" y="954978"/>
            <a:ext cx="11649493" cy="52228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2.2</a:t>
            </a: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Group PM/KPIs-Setting and Midyear evaluation roll out </a:t>
            </a:r>
            <a:endParaRPr sz="2400" b="1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99" name="Google Shape;199;p5"/>
          <p:cNvGraphicFramePr/>
          <p:nvPr>
            <p:extLst>
              <p:ext uri="{D42A27DB-BD31-4B8C-83A1-F6EECF244321}">
                <p14:modId xmlns:p14="http://schemas.microsoft.com/office/powerpoint/2010/main" val="3979442959"/>
              </p:ext>
            </p:extLst>
          </p:nvPr>
        </p:nvGraphicFramePr>
        <p:xfrm>
          <a:off x="233632" y="1559527"/>
          <a:ext cx="11724733" cy="1668795"/>
        </p:xfrm>
        <a:graphic>
          <a:graphicData uri="http://schemas.openxmlformats.org/drawingml/2006/table">
            <a:tbl>
              <a:tblPr>
                <a:noFill/>
                <a:tableStyleId>{CAEEF936-BCFE-4613-9C03-EC2DC5AF48BE}</a:tableStyleId>
              </a:tblPr>
              <a:tblGrid>
                <a:gridCol w="1172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2890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Group PMS/KPI setting closed at 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97% compared to 93% in FY 24 as </a:t>
                      </a:r>
                      <a:r>
                        <a:rPr lang="en-US" sz="2000" b="0" i="1" u="none" strike="noStrike" cap="none" dirty="0">
                          <a:solidFill>
                            <a:srgbClr val="0070C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appendix 5</a:t>
                      </a:r>
                      <a:endParaRPr lang="en-US" sz="2000" b="0" i="1" u="none" strike="noStrike" cap="none" dirty="0">
                        <a:solidFill>
                          <a:srgbClr val="0070C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Mid year evaluation was rolled out on 17</a:t>
                      </a:r>
                      <a:r>
                        <a:rPr lang="en-US" sz="2000" b="0" i="0" u="none" strike="noStrike" cap="none" baseline="30000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th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July and is scheduled to end by 31</a:t>
                      </a:r>
                      <a:r>
                        <a:rPr lang="en-US" sz="2000" b="0" i="0" u="none" strike="noStrike" cap="none" baseline="30000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August 2025</a:t>
                      </a:r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The PM system continues to be updated to enhance process efficiency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7625" marR="7625" marT="762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1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625" marR="7625" marT="762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86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625" marR="7625" marT="762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FE12EA1-CA18-0AA2-16A3-724085CC5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32" y="3429000"/>
            <a:ext cx="7207908" cy="3159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>
            <a:spLocks noGrp="1"/>
          </p:cNvSpPr>
          <p:nvPr>
            <p:ph type="title"/>
          </p:nvPr>
        </p:nvSpPr>
        <p:spPr>
          <a:xfrm>
            <a:off x="411494" y="900172"/>
            <a:ext cx="11565147" cy="52228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.3</a:t>
            </a: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Group Learning and Development</a:t>
            </a:r>
            <a:endParaRPr sz="2133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384969" y="1422460"/>
            <a:ext cx="11618199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1600"/>
            </a:pPr>
            <a:endParaRPr dirty="0"/>
          </a:p>
          <a:p>
            <a:pPr marL="3429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1600"/>
              <a:buFont typeface="Calibri"/>
              <a:buAutoNum type="alphaLcParenR"/>
            </a:pPr>
            <a:r>
              <a:rPr lang="en-US" sz="1800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Focus in Q2 has been on functional trainings aimed at equipping staff with technical competencies </a:t>
            </a:r>
          </a:p>
          <a:p>
            <a:pPr marL="3429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1600"/>
              <a:buFont typeface="Calibri"/>
              <a:buAutoNum type="alphaLcParenR"/>
            </a:pPr>
            <a:r>
              <a:rPr lang="en-US" sz="1800" dirty="0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Soft Skills in the last quarter focused on Financial Literacy and OSHE</a:t>
            </a:r>
            <a:endParaRPr sz="1800" b="0" i="0" u="none" strike="noStrike" cap="none" dirty="0">
              <a:solidFill>
                <a:srgbClr val="41404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8B2C43-2FEE-68B2-5D1A-925CF41BE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042671"/>
              </p:ext>
            </p:extLst>
          </p:nvPr>
        </p:nvGraphicFramePr>
        <p:xfrm>
          <a:off x="384969" y="2445221"/>
          <a:ext cx="11618199" cy="2625829"/>
        </p:xfrm>
        <a:graphic>
          <a:graphicData uri="http://schemas.openxmlformats.org/drawingml/2006/table">
            <a:tbl>
              <a:tblPr/>
              <a:tblGrid>
                <a:gridCol w="4728948">
                  <a:extLst>
                    <a:ext uri="{9D8B030D-6E8A-4147-A177-3AD203B41FA5}">
                      <a16:colId xmlns:a16="http://schemas.microsoft.com/office/drawing/2014/main" val="3657317180"/>
                    </a:ext>
                  </a:extLst>
                </a:gridCol>
                <a:gridCol w="974769">
                  <a:extLst>
                    <a:ext uri="{9D8B030D-6E8A-4147-A177-3AD203B41FA5}">
                      <a16:colId xmlns:a16="http://schemas.microsoft.com/office/drawing/2014/main" val="1894561527"/>
                    </a:ext>
                  </a:extLst>
                </a:gridCol>
                <a:gridCol w="948425">
                  <a:extLst>
                    <a:ext uri="{9D8B030D-6E8A-4147-A177-3AD203B41FA5}">
                      <a16:colId xmlns:a16="http://schemas.microsoft.com/office/drawing/2014/main" val="3009740742"/>
                    </a:ext>
                  </a:extLst>
                </a:gridCol>
                <a:gridCol w="1001115">
                  <a:extLst>
                    <a:ext uri="{9D8B030D-6E8A-4147-A177-3AD203B41FA5}">
                      <a16:colId xmlns:a16="http://schemas.microsoft.com/office/drawing/2014/main" val="2031418282"/>
                    </a:ext>
                  </a:extLst>
                </a:gridCol>
                <a:gridCol w="1106494">
                  <a:extLst>
                    <a:ext uri="{9D8B030D-6E8A-4147-A177-3AD203B41FA5}">
                      <a16:colId xmlns:a16="http://schemas.microsoft.com/office/drawing/2014/main" val="3224359511"/>
                    </a:ext>
                  </a:extLst>
                </a:gridCol>
                <a:gridCol w="974769">
                  <a:extLst>
                    <a:ext uri="{9D8B030D-6E8A-4147-A177-3AD203B41FA5}">
                      <a16:colId xmlns:a16="http://schemas.microsoft.com/office/drawing/2014/main" val="1040620263"/>
                    </a:ext>
                  </a:extLst>
                </a:gridCol>
                <a:gridCol w="987945">
                  <a:extLst>
                    <a:ext uri="{9D8B030D-6E8A-4147-A177-3AD203B41FA5}">
                      <a16:colId xmlns:a16="http://schemas.microsoft.com/office/drawing/2014/main" val="611200012"/>
                    </a:ext>
                  </a:extLst>
                </a:gridCol>
                <a:gridCol w="895734">
                  <a:extLst>
                    <a:ext uri="{9D8B030D-6E8A-4147-A177-3AD203B41FA5}">
                      <a16:colId xmlns:a16="http://schemas.microsoft.com/office/drawing/2014/main" val="725284941"/>
                    </a:ext>
                  </a:extLst>
                </a:gridCol>
              </a:tblGrid>
              <a:tr h="508225">
                <a:tc gridSpan="8"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Q2 FY25 L&amp;D Report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775155"/>
                  </a:ext>
                </a:extLst>
              </a:tr>
              <a:tr h="592929">
                <a:tc>
                  <a:txBody>
                    <a:bodyPr/>
                    <a:lstStyle/>
                    <a:p>
                      <a:pPr rtl="0" fontAlgn="b"/>
                      <a:endParaRPr lang="en-UG" sz="1800" dirty="0">
                        <a:effectLst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Group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Uganda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APDL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Tanzania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Rwanda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Burundi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Kenya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76155"/>
                  </a:ext>
                </a:extLst>
              </a:tr>
              <a:tr h="508225"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>
                          <a:effectLst/>
                          <a:latin typeface="Trebuchet MS" panose="020B0603020202020204" pitchFamily="34" charset="0"/>
                        </a:rPr>
                        <a:t>Group number of Programs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44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28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504498"/>
                  </a:ext>
                </a:extLst>
              </a:tr>
              <a:tr h="508225"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>
                          <a:effectLst/>
                          <a:latin typeface="Trebuchet MS" panose="020B0603020202020204" pitchFamily="34" charset="0"/>
                        </a:rPr>
                        <a:t>Total Man hours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2,300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1,118</a:t>
                      </a:r>
                      <a:endParaRPr lang="en-UG" sz="1800" b="1" dirty="0"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591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325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12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245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565730"/>
                  </a:ext>
                </a:extLst>
              </a:tr>
              <a:tr h="508225">
                <a:tc>
                  <a:txBody>
                    <a:bodyPr/>
                    <a:lstStyle/>
                    <a:p>
                      <a:pPr rtl="0" fontAlgn="b"/>
                      <a:r>
                        <a:rPr lang="en-GB" sz="1800" b="1" dirty="0">
                          <a:effectLst/>
                          <a:latin typeface="Trebuchet MS" panose="020B0603020202020204" pitchFamily="34" charset="0"/>
                        </a:rPr>
                        <a:t>Costs incurred</a:t>
                      </a: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2,334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1,043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522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769</a:t>
                      </a:r>
                      <a:endParaRPr lang="en-UG" sz="1800" b="1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14288" marR="14288" marT="0" marB="0" anchor="ctr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85873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  <p:bldP spid="2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>
            <a:spLocks noGrp="1"/>
          </p:cNvSpPr>
          <p:nvPr>
            <p:ph type="title"/>
          </p:nvPr>
        </p:nvSpPr>
        <p:spPr>
          <a:xfrm>
            <a:off x="546337" y="837222"/>
            <a:ext cx="11296720" cy="414069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2.4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 Group Wellness, EE and Learning &amp; Development</a:t>
            </a: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-Snap shots </a:t>
            </a:r>
            <a:endParaRPr sz="2133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48022" y="1308914"/>
            <a:ext cx="1203204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45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1600"/>
              <a:buFont typeface="Noto Sans Symbols"/>
              <a:buChar char="❖"/>
            </a:pP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Annual Medical camps were conducted across the Group in Uganda, APDL, Kenya, Rwanda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month of June 2025</a:t>
            </a:r>
          </a:p>
          <a:p>
            <a:pPr marL="4445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1600"/>
              <a:buFont typeface="Noto Sans Symbols"/>
              <a:buChar char="❖"/>
            </a:pP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Physical fitness program continues at APDL</a:t>
            </a:r>
            <a:endParaRPr sz="1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639B54A-C0B1-36AC-9E16-F3349B4CE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2" y="1974896"/>
            <a:ext cx="4107768" cy="238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E9AE264E-DA32-7DAA-ACCA-8967FF539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315" y="1963083"/>
            <a:ext cx="3898382" cy="2365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42850E0-FFF1-C933-B319-7DEBBCA70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2" y="4422015"/>
            <a:ext cx="4107768" cy="239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4A687B28-4CC1-4111-3CC1-BA67B2F92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315" y="4411639"/>
            <a:ext cx="3898382" cy="240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0DA898-7205-B892-EC41-4F4A9A8F55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18" y="1951272"/>
            <a:ext cx="3850360" cy="238949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D40C93C-887A-D641-B2B3-25D2921DB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618" y="4422015"/>
            <a:ext cx="3898382" cy="238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82E87946-53BE-72F7-CDEC-1555570A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>
            <a:extLst>
              <a:ext uri="{FF2B5EF4-FFF2-40B4-BE49-F238E27FC236}">
                <a16:creationId xmlns:a16="http://schemas.microsoft.com/office/drawing/2014/main" id="{C89A9C5A-24BA-4CD8-3A41-E3205399F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30" y="851140"/>
            <a:ext cx="12128739" cy="52228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 Status of implementation of Phase 2 </a:t>
            </a:r>
            <a:r>
              <a:rPr lang="en-US" sz="24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of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Red sea</a:t>
            </a:r>
            <a:endParaRPr sz="2400" b="1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99" name="Google Shape;199;p5">
            <a:extLst>
              <a:ext uri="{FF2B5EF4-FFF2-40B4-BE49-F238E27FC236}">
                <a16:creationId xmlns:a16="http://schemas.microsoft.com/office/drawing/2014/main" id="{998B9ACC-3CD8-1AFD-6913-22E1056052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125766"/>
              </p:ext>
            </p:extLst>
          </p:nvPr>
        </p:nvGraphicFramePr>
        <p:xfrm>
          <a:off x="31630" y="1431509"/>
          <a:ext cx="12128738" cy="4345507"/>
        </p:xfrm>
        <a:graphic>
          <a:graphicData uri="http://schemas.openxmlformats.org/drawingml/2006/table">
            <a:tbl>
              <a:tblPr>
                <a:noFill/>
                <a:tableStyleId>{CAEEF936-BCFE-4613-9C03-EC2DC5AF48BE}</a:tableStyleId>
              </a:tblPr>
              <a:tblGrid>
                <a:gridCol w="12128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25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cs typeface="Arial"/>
                          <a:sym typeface="Arial"/>
                        </a:rPr>
                        <a:t>The Board approved implementation of the </a:t>
                      </a:r>
                      <a:r>
                        <a:rPr lang="en-GB" sz="2400" b="0" i="0" u="none" strike="noStrike" cap="none">
                          <a:solidFill>
                            <a:srgbClr val="000000"/>
                          </a:solidFill>
                          <a:latin typeface="Trebuchet MS"/>
                          <a:cs typeface="Arial"/>
                          <a:sym typeface="Arial"/>
                        </a:rPr>
                        <a:t>Red Sea </a:t>
                      </a:r>
                      <a:r>
                        <a:rPr lang="en-GB" sz="24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cs typeface="Arial"/>
                          <a:sym typeface="Arial"/>
                        </a:rPr>
                        <a:t>project as one of the cost management initiatives for FY 2025.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2400" b="0" i="0" u="none" strike="noStrike" cap="none" dirty="0">
                        <a:solidFill>
                          <a:srgbClr val="000000"/>
                        </a:solidFill>
                        <a:latin typeface="Trebuchet MS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cs typeface="Arial"/>
                          <a:sym typeface="Arial"/>
                        </a:rPr>
                        <a:t>Status: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4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sym typeface="Arial"/>
                        </a:rPr>
                        <a:t>Phase 2 of the Red sea project involved exit of Seven (7) employees.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4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sym typeface="Arial"/>
                        </a:rPr>
                        <a:t>Four (4) have been successfully exited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400" b="0" i="0" u="none" strike="noStrike" cap="none" dirty="0">
                          <a:solidFill>
                            <a:srgbClr val="000000"/>
                          </a:solidFill>
                          <a:latin typeface="Trebuchet MS"/>
                          <a:sym typeface="Arial"/>
                        </a:rPr>
                        <a:t>Three (3) are pending completion of the recruitment process to identify suitable replacements due to the criticality of the positions. This is expected to be completed by end of Q3.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GB" sz="2400" b="0" i="0" u="none" strike="noStrike" cap="none" dirty="0">
                        <a:solidFill>
                          <a:srgbClr val="000000"/>
                        </a:solidFill>
                        <a:latin typeface="Trebuchet MS"/>
                        <a:sym typeface="Arial"/>
                      </a:endParaRPr>
                    </a:p>
                  </a:txBody>
                  <a:tcPr marL="7625" marR="7625" marT="762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21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endParaRPr lang="en-US" sz="2400" b="0" i="0" u="none" strike="noStrike" cap="none" dirty="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625" marR="7625" marT="762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7625" marR="7625" marT="762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56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>
            <a:spLocks noGrp="1"/>
          </p:cNvSpPr>
          <p:nvPr>
            <p:ph type="title"/>
          </p:nvPr>
        </p:nvSpPr>
        <p:spPr>
          <a:xfrm>
            <a:off x="0" y="823103"/>
            <a:ext cx="12192000" cy="52228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800" b="1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 Request to the Board</a:t>
            </a:r>
            <a:endParaRPr sz="28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0" y="1786163"/>
            <a:ext cx="1212874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16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Receive and approve the Group HR Q2 FY2</a:t>
            </a:r>
            <a:r>
              <a:rPr lang="en-US" sz="2400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5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Report.</a:t>
            </a:r>
            <a:endParaRPr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3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/>
        </p:nvSpPr>
        <p:spPr>
          <a:xfrm>
            <a:off x="640480" y="3310252"/>
            <a:ext cx="11551520" cy="23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Trebuchet MS"/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sz="4800" b="1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52788560-CF5C-2588-BFE2-511CD1F2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>
            <a:extLst>
              <a:ext uri="{FF2B5EF4-FFF2-40B4-BE49-F238E27FC236}">
                <a16:creationId xmlns:a16="http://schemas.microsoft.com/office/drawing/2014/main" id="{217569A8-05E5-849E-13A2-B94F5F6700BA}"/>
              </a:ext>
            </a:extLst>
          </p:cNvPr>
          <p:cNvSpPr txBox="1"/>
          <p:nvPr/>
        </p:nvSpPr>
        <p:spPr>
          <a:xfrm>
            <a:off x="0" y="-1"/>
            <a:ext cx="12191999" cy="356559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18D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Appendix 1: Detailed Group Headcount 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 FY25</a:t>
            </a:r>
            <a:endParaRPr sz="2400" b="1" dirty="0">
              <a:solidFill>
                <a:srgbClr val="FFFFFF"/>
              </a:solidFill>
              <a:latin typeface="Trebuchet MS"/>
              <a:sym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405DFF-B29B-3279-CF7B-8ECBDB73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047253"/>
              </p:ext>
            </p:extLst>
          </p:nvPr>
        </p:nvGraphicFramePr>
        <p:xfrm>
          <a:off x="0" y="356558"/>
          <a:ext cx="12192004" cy="6447841"/>
        </p:xfrm>
        <a:graphic>
          <a:graphicData uri="http://schemas.openxmlformats.org/drawingml/2006/table">
            <a:tbl>
              <a:tblPr/>
              <a:tblGrid>
                <a:gridCol w="2259558">
                  <a:extLst>
                    <a:ext uri="{9D8B030D-6E8A-4147-A177-3AD203B41FA5}">
                      <a16:colId xmlns:a16="http://schemas.microsoft.com/office/drawing/2014/main" val="1337686976"/>
                    </a:ext>
                  </a:extLst>
                </a:gridCol>
                <a:gridCol w="740365">
                  <a:extLst>
                    <a:ext uri="{9D8B030D-6E8A-4147-A177-3AD203B41FA5}">
                      <a16:colId xmlns:a16="http://schemas.microsoft.com/office/drawing/2014/main" val="3210184264"/>
                    </a:ext>
                  </a:extLst>
                </a:gridCol>
                <a:gridCol w="692291">
                  <a:extLst>
                    <a:ext uri="{9D8B030D-6E8A-4147-A177-3AD203B41FA5}">
                      <a16:colId xmlns:a16="http://schemas.microsoft.com/office/drawing/2014/main" val="3380523783"/>
                    </a:ext>
                  </a:extLst>
                </a:gridCol>
                <a:gridCol w="730751">
                  <a:extLst>
                    <a:ext uri="{9D8B030D-6E8A-4147-A177-3AD203B41FA5}">
                      <a16:colId xmlns:a16="http://schemas.microsoft.com/office/drawing/2014/main" val="1512027938"/>
                    </a:ext>
                  </a:extLst>
                </a:gridCol>
                <a:gridCol w="605757">
                  <a:extLst>
                    <a:ext uri="{9D8B030D-6E8A-4147-A177-3AD203B41FA5}">
                      <a16:colId xmlns:a16="http://schemas.microsoft.com/office/drawing/2014/main" val="10608846"/>
                    </a:ext>
                  </a:extLst>
                </a:gridCol>
                <a:gridCol w="730751">
                  <a:extLst>
                    <a:ext uri="{9D8B030D-6E8A-4147-A177-3AD203B41FA5}">
                      <a16:colId xmlns:a16="http://schemas.microsoft.com/office/drawing/2014/main" val="3963782716"/>
                    </a:ext>
                  </a:extLst>
                </a:gridCol>
                <a:gridCol w="740365">
                  <a:extLst>
                    <a:ext uri="{9D8B030D-6E8A-4147-A177-3AD203B41FA5}">
                      <a16:colId xmlns:a16="http://schemas.microsoft.com/office/drawing/2014/main" val="1840977728"/>
                    </a:ext>
                  </a:extLst>
                </a:gridCol>
                <a:gridCol w="721135">
                  <a:extLst>
                    <a:ext uri="{9D8B030D-6E8A-4147-A177-3AD203B41FA5}">
                      <a16:colId xmlns:a16="http://schemas.microsoft.com/office/drawing/2014/main" val="2277912265"/>
                    </a:ext>
                  </a:extLst>
                </a:gridCol>
                <a:gridCol w="711521">
                  <a:extLst>
                    <a:ext uri="{9D8B030D-6E8A-4147-A177-3AD203B41FA5}">
                      <a16:colId xmlns:a16="http://schemas.microsoft.com/office/drawing/2014/main" val="3864639042"/>
                    </a:ext>
                  </a:extLst>
                </a:gridCol>
                <a:gridCol w="730751">
                  <a:extLst>
                    <a:ext uri="{9D8B030D-6E8A-4147-A177-3AD203B41FA5}">
                      <a16:colId xmlns:a16="http://schemas.microsoft.com/office/drawing/2014/main" val="2521312981"/>
                    </a:ext>
                  </a:extLst>
                </a:gridCol>
                <a:gridCol w="682676">
                  <a:extLst>
                    <a:ext uri="{9D8B030D-6E8A-4147-A177-3AD203B41FA5}">
                      <a16:colId xmlns:a16="http://schemas.microsoft.com/office/drawing/2014/main" val="2595706117"/>
                    </a:ext>
                  </a:extLst>
                </a:gridCol>
                <a:gridCol w="740365">
                  <a:extLst>
                    <a:ext uri="{9D8B030D-6E8A-4147-A177-3AD203B41FA5}">
                      <a16:colId xmlns:a16="http://schemas.microsoft.com/office/drawing/2014/main" val="2080373421"/>
                    </a:ext>
                  </a:extLst>
                </a:gridCol>
                <a:gridCol w="759597">
                  <a:extLst>
                    <a:ext uri="{9D8B030D-6E8A-4147-A177-3AD203B41FA5}">
                      <a16:colId xmlns:a16="http://schemas.microsoft.com/office/drawing/2014/main" val="3582704269"/>
                    </a:ext>
                  </a:extLst>
                </a:gridCol>
                <a:gridCol w="730751">
                  <a:extLst>
                    <a:ext uri="{9D8B030D-6E8A-4147-A177-3AD203B41FA5}">
                      <a16:colId xmlns:a16="http://schemas.microsoft.com/office/drawing/2014/main" val="1091526855"/>
                    </a:ext>
                  </a:extLst>
                </a:gridCol>
                <a:gridCol w="615370">
                  <a:extLst>
                    <a:ext uri="{9D8B030D-6E8A-4147-A177-3AD203B41FA5}">
                      <a16:colId xmlns:a16="http://schemas.microsoft.com/office/drawing/2014/main" val="1344004649"/>
                    </a:ext>
                  </a:extLst>
                </a:gridCol>
              </a:tblGrid>
              <a:tr h="21658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900" dirty="0">
                        <a:effectLst/>
                      </a:endParaRPr>
                    </a:p>
                  </a:txBody>
                  <a:tcPr marL="6475" marR="64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Group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Uganda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>
                          <a:effectLst/>
                          <a:latin typeface="Trebuchet MS" panose="020B0603020202020204" pitchFamily="34" charset="0"/>
                        </a:rPr>
                        <a:t>APDL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>
                          <a:effectLst/>
                          <a:latin typeface="Trebuchet MS" panose="020B0603020202020204" pitchFamily="34" charset="0"/>
                        </a:rPr>
                        <a:t>Tanzania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>
                          <a:effectLst/>
                          <a:latin typeface="Trebuchet MS" panose="020B0603020202020204" pitchFamily="34" charset="0"/>
                        </a:rPr>
                        <a:t>Rwanda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>
                          <a:effectLst/>
                          <a:latin typeface="Trebuchet MS" panose="020B0603020202020204" pitchFamily="34" charset="0"/>
                        </a:rPr>
                        <a:t>Burundi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Kenya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4125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900" dirty="0">
                        <a:effectLst/>
                      </a:endParaRPr>
                    </a:p>
                  </a:txBody>
                  <a:tcPr marL="6475" marR="64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u="sng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400" b="1" dirty="0">
                          <a:effectLst/>
                          <a:latin typeface="Trebuchet MS" panose="020B0603020202020204" pitchFamily="34" charset="0"/>
                        </a:rPr>
                        <a:t>Number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400" b="1" u="sng" dirty="0">
                          <a:effectLst/>
                          <a:latin typeface="Trebuchet MS" panose="020B0603020202020204" pitchFamily="34" charset="0"/>
                        </a:rPr>
                        <a:t>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846451"/>
                  </a:ext>
                </a:extLst>
              </a:tr>
              <a:tr h="2698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 dirty="0">
                          <a:effectLst/>
                          <a:latin typeface="Trebuchet MS" panose="020B0603020202020204" pitchFamily="34" charset="0"/>
                        </a:rPr>
                        <a:t>Overall Headcount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2,140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950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760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36%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255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12%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71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63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42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911773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 dirty="0">
                          <a:effectLst/>
                          <a:latin typeface="Trebuchet MS" panose="020B0603020202020204" pitchFamily="34" charset="0"/>
                        </a:rPr>
                        <a:t>Direct Staff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1,173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600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224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222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296277"/>
                  </a:ext>
                </a:extLst>
              </a:tr>
              <a:tr h="17172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Female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293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134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350503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Male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881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465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78%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178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158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674538"/>
                  </a:ext>
                </a:extLst>
              </a:tr>
              <a:tr h="18237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 dirty="0">
                          <a:effectLst/>
                          <a:latin typeface="Trebuchet MS" panose="020B0603020202020204" pitchFamily="34" charset="0"/>
                        </a:rPr>
                        <a:t>Nationals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1,055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517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213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207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680322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Expatriates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119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16249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Management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255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122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57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42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570071"/>
                  </a:ext>
                </a:extLst>
              </a:tr>
              <a:tr h="2624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Female in Management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447616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Below 40 years of age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927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462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178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80%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182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01008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Atleast 40 years of age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246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138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20%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01586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Less than 5 years with Abacus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693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367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61%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145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28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598374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 dirty="0">
                          <a:effectLst/>
                          <a:latin typeface="Trebuchet MS" panose="020B0603020202020204" pitchFamily="34" charset="0"/>
                        </a:rPr>
                        <a:t>At least 5 years with Abacus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480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232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125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77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30896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>
                          <a:effectLst/>
                          <a:latin typeface="Trebuchet MS" panose="020B0603020202020204" pitchFamily="34" charset="0"/>
                        </a:rPr>
                        <a:t>Total New hires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162720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New hires at EXCO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842491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New hires at EXCO - 1&amp;2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829217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New hires at Other Levels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56497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>
                          <a:effectLst/>
                          <a:latin typeface="Trebuchet MS" panose="020B0603020202020204" pitchFamily="34" charset="0"/>
                        </a:rPr>
                        <a:t>Total Exits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1.5%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1.9%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2.5%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3.8%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8.9%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36392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Exits at EXCO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33815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Exits at EXCO - 1&amp;2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52592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Exits at Other Levels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1.9%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1.4%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1.9%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2.5%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3.8%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0.8%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8.9%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99048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>
                          <a:effectLst/>
                          <a:latin typeface="Trebuchet MS" panose="020B0603020202020204" pitchFamily="34" charset="0"/>
                        </a:rPr>
                        <a:t>Total Internal Movements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0.0%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834635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Promotions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33589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Transfers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 dirty="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G" sz="1100">
                        <a:effectLst/>
                      </a:endParaRP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648719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>
                          <a:effectLst/>
                          <a:latin typeface="Trebuchet MS" panose="020B0603020202020204" pitchFamily="34" charset="0"/>
                        </a:rPr>
                        <a:t>Principals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388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308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8.3%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34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11.1%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1.2%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2.2%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629350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Female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21%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56961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Male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289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75%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239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77%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20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79%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89615"/>
                  </a:ext>
                </a:extLst>
              </a:tr>
              <a:tr h="2179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1">
                          <a:effectLst/>
                          <a:latin typeface="Trebuchet MS" panose="020B0603020202020204" pitchFamily="34" charset="0"/>
                        </a:rPr>
                        <a:t>Casuals/Contractors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579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42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7%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537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93%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0%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69599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>
                          <a:effectLst/>
                          <a:latin typeface="Trebuchet MS" panose="020B0603020202020204" pitchFamily="34" charset="0"/>
                        </a:rPr>
                        <a:t>Female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243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42%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14%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237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44%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99985"/>
                  </a:ext>
                </a:extLst>
              </a:tr>
              <a:tr h="1701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100" b="0" dirty="0">
                          <a:effectLst/>
                          <a:latin typeface="Trebuchet MS" panose="020B0603020202020204" pitchFamily="34" charset="0"/>
                        </a:rPr>
                        <a:t>Male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336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1">
                          <a:effectLst/>
                          <a:latin typeface="Trebuchet MS" panose="020B0603020202020204" pitchFamily="34" charset="0"/>
                        </a:rPr>
                        <a:t>58%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36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86%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300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56%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G" sz="1100" b="0" dirty="0">
                          <a:effectLst/>
                          <a:latin typeface="Trebuchet MS" panose="020B0603020202020204" pitchFamily="34" charset="0"/>
                        </a:rPr>
                        <a:t>- </a:t>
                      </a:r>
                    </a:p>
                  </a:txBody>
                  <a:tcPr marL="6475" marR="6475" marT="0" marB="0" anchor="b">
                    <a:lnL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17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362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/>
        </p:nvSpPr>
        <p:spPr>
          <a:xfrm>
            <a:off x="-1" y="52274"/>
            <a:ext cx="12182475" cy="712603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18D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Appendix 2: Group Regrettable Exits Q2 </a:t>
            </a:r>
            <a:r>
              <a:rPr lang="en-US" sz="2400" b="1" i="0" u="sng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FY2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YTD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A055CD1-6249-1C47-CE95-506A5AFA8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384979"/>
              </p:ext>
            </p:extLst>
          </p:nvPr>
        </p:nvGraphicFramePr>
        <p:xfrm>
          <a:off x="0" y="764877"/>
          <a:ext cx="12182475" cy="6020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182561" imgH="3186112" progId="Excel.Sheet.12">
                  <p:embed/>
                </p:oleObj>
              </mc:Choice>
              <mc:Fallback>
                <p:oleObj name="Worksheet" r:id="rId4" imgW="12182561" imgH="318611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A055CD1-6249-1C47-CE95-506A5AFA8B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764877"/>
                        <a:ext cx="12182475" cy="6020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/>
        </p:nvSpPr>
        <p:spPr>
          <a:xfrm>
            <a:off x="0" y="819807"/>
            <a:ext cx="12140242" cy="493564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18D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Appendix 3: Group Recruitments </a:t>
            </a:r>
            <a:r>
              <a:rPr lang="en-US" sz="2400" b="1" i="0" u="sng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YTD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A9E1C4-C097-B630-0890-CC5742F73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51424"/>
              </p:ext>
            </p:extLst>
          </p:nvPr>
        </p:nvGraphicFramePr>
        <p:xfrm>
          <a:off x="56758" y="1313371"/>
          <a:ext cx="12083484" cy="5558620"/>
        </p:xfrm>
        <a:graphic>
          <a:graphicData uri="http://schemas.openxmlformats.org/drawingml/2006/table">
            <a:tbl>
              <a:tblPr/>
              <a:tblGrid>
                <a:gridCol w="782984">
                  <a:extLst>
                    <a:ext uri="{9D8B030D-6E8A-4147-A177-3AD203B41FA5}">
                      <a16:colId xmlns:a16="http://schemas.microsoft.com/office/drawing/2014/main" val="3843624513"/>
                    </a:ext>
                  </a:extLst>
                </a:gridCol>
                <a:gridCol w="800208">
                  <a:extLst>
                    <a:ext uri="{9D8B030D-6E8A-4147-A177-3AD203B41FA5}">
                      <a16:colId xmlns:a16="http://schemas.microsoft.com/office/drawing/2014/main" val="4162625190"/>
                    </a:ext>
                  </a:extLst>
                </a:gridCol>
                <a:gridCol w="644070">
                  <a:extLst>
                    <a:ext uri="{9D8B030D-6E8A-4147-A177-3AD203B41FA5}">
                      <a16:colId xmlns:a16="http://schemas.microsoft.com/office/drawing/2014/main" val="1794206686"/>
                    </a:ext>
                  </a:extLst>
                </a:gridCol>
                <a:gridCol w="800208">
                  <a:extLst>
                    <a:ext uri="{9D8B030D-6E8A-4147-A177-3AD203B41FA5}">
                      <a16:colId xmlns:a16="http://schemas.microsoft.com/office/drawing/2014/main" val="4013712596"/>
                    </a:ext>
                  </a:extLst>
                </a:gridCol>
                <a:gridCol w="5308697">
                  <a:extLst>
                    <a:ext uri="{9D8B030D-6E8A-4147-A177-3AD203B41FA5}">
                      <a16:colId xmlns:a16="http://schemas.microsoft.com/office/drawing/2014/main" val="2964887862"/>
                    </a:ext>
                  </a:extLst>
                </a:gridCol>
                <a:gridCol w="3747317">
                  <a:extLst>
                    <a:ext uri="{9D8B030D-6E8A-4147-A177-3AD203B41FA5}">
                      <a16:colId xmlns:a16="http://schemas.microsoft.com/office/drawing/2014/main" val="1892828827"/>
                    </a:ext>
                  </a:extLst>
                </a:gridCol>
              </a:tblGrid>
              <a:tr h="272290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Summary Planned/Budgeted Recruitments as of June FY25</a:t>
                      </a:r>
                    </a:p>
                  </a:txBody>
                  <a:tcPr marL="4211" marR="4211" marT="42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95559"/>
                  </a:ext>
                </a:extLst>
              </a:tr>
              <a:tr h="4191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Business Unit</a:t>
                      </a:r>
                    </a:p>
                  </a:txBody>
                  <a:tcPr marL="4211" marR="4211" marT="421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Planned Hires</a:t>
                      </a:r>
                    </a:p>
                  </a:txBody>
                  <a:tcPr marL="4211" marR="4211" marT="42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Actual Hires</a:t>
                      </a:r>
                    </a:p>
                  </a:txBody>
                  <a:tcPr marL="4211" marR="4211" marT="42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Variance</a:t>
                      </a:r>
                    </a:p>
                  </a:txBody>
                  <a:tcPr marL="4211" marR="4211" marT="42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Pending</a:t>
                      </a:r>
                    </a:p>
                  </a:txBody>
                  <a:tcPr marL="4211" marR="4211" marT="42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Justifications/ Comments</a:t>
                      </a:r>
                    </a:p>
                  </a:txBody>
                  <a:tcPr marL="4211" marR="4211" marT="42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48343"/>
                  </a:ext>
                </a:extLst>
              </a:tr>
              <a:tr h="952730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Uganda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26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12 positions:</a:t>
                      </a:r>
                    </a:p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 field sales rep, 6 Medical Reps, 1 sales Manager/Debt collections, 4 Sales Reps (order booking-branch) 1 position in Supply chain; 1 Logistics officer 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Focus was on filling the critical positions that fell vacant because of Red sea project 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320673"/>
                  </a:ext>
                </a:extLst>
              </a:tr>
              <a:tr h="551741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APDL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 positions:</a:t>
                      </a:r>
                    </a:p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 dispatch clerk, 1 purchase assistant, 3 medical reps 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Positions pushed to Q3 to be aligned with plant opening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37478"/>
                  </a:ext>
                </a:extLst>
              </a:tr>
              <a:tr h="715572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Tanzania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 positions:</a:t>
                      </a:r>
                      <a:b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</a:b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 delivery driver the vehicle has not yet been bought, 1 RBDM on hold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Positions put on hold 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361008"/>
                  </a:ext>
                </a:extLst>
              </a:tr>
              <a:tr h="952730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Rwanda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 positions</a:t>
                      </a:r>
                      <a:b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</a:b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 Asst Sales Manager, 3 Delivery Associate, 1 Counter Sales and Accounts Assistant, 1 field sales rep, 1 Warehouse Assistant pushed to Q3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Delayed recruitment but the process has commenced 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162045"/>
                  </a:ext>
                </a:extLst>
              </a:tr>
              <a:tr h="478413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Kenya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 positions</a:t>
                      </a:r>
                      <a:b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</a:b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 Medical Representatives pushed to Q3.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Positions pushed to Q3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157241"/>
                  </a:ext>
                </a:extLst>
              </a:tr>
              <a:tr h="558447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Burundi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7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</a:t>
                      </a:r>
                      <a:endParaRPr lang="en-UG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 positions:</a:t>
                      </a:r>
                    </a:p>
                    <a:p>
                      <a:pPr algn="l" fontAlgn="t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 sales rep, 5 medical reps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  <a:sym typeface="Arial"/>
                        </a:rPr>
                        <a:t>Delayed recruitment</a:t>
                      </a: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444690"/>
                  </a:ext>
                </a:extLst>
              </a:tr>
              <a:tr h="558447"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Group </a:t>
                      </a:r>
                    </a:p>
                  </a:txBody>
                  <a:tcPr marL="4211" marR="4211" marT="4211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59</a:t>
                      </a:r>
                      <a:endParaRPr lang="en-UG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22</a:t>
                      </a:r>
                      <a:endParaRPr lang="en-UG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37</a:t>
                      </a:r>
                      <a:endParaRPr lang="en-UG" sz="1600" b="1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211" marR="4211" marT="421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8179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B3487544-DB09-1F98-2A42-1A460FF3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>
            <a:extLst>
              <a:ext uri="{FF2B5EF4-FFF2-40B4-BE49-F238E27FC236}">
                <a16:creationId xmlns:a16="http://schemas.microsoft.com/office/drawing/2014/main" id="{6F8CCD54-10FA-99FE-A650-F784B7C3C5E8}"/>
              </a:ext>
            </a:extLst>
          </p:cNvPr>
          <p:cNvSpPr txBox="1"/>
          <p:nvPr/>
        </p:nvSpPr>
        <p:spPr>
          <a:xfrm>
            <a:off x="9527" y="0"/>
            <a:ext cx="12192000" cy="29329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18D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Appendix 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: Disciplinary Schedule-Q2 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FY25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CE8EA-35FC-C03A-D0E2-E1C1FC554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" y="293298"/>
            <a:ext cx="12172945" cy="65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43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78FD3CFB-D2E9-4D1C-41D1-447A7246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>
            <a:extLst>
              <a:ext uri="{FF2B5EF4-FFF2-40B4-BE49-F238E27FC236}">
                <a16:creationId xmlns:a16="http://schemas.microsoft.com/office/drawing/2014/main" id="{4D6739C3-0EA8-80BF-5683-9928C5F0E3CD}"/>
              </a:ext>
            </a:extLst>
          </p:cNvPr>
          <p:cNvSpPr txBox="1"/>
          <p:nvPr/>
        </p:nvSpPr>
        <p:spPr>
          <a:xfrm>
            <a:off x="0" y="851141"/>
            <a:ext cx="12105736" cy="293298"/>
          </a:xfrm>
          <a:prstGeom prst="rect">
            <a:avLst/>
          </a:prstGeom>
          <a:solidFill>
            <a:srgbClr val="214E4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18D"/>
              </a:buClr>
              <a:buSzPts val="2400"/>
              <a:buFont typeface="Trebuchet MS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Appendix 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: Group PMS/KPI Submission Compliance-Q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i="0" u="none" strike="noStrike" cap="none" dirty="0">
                <a:solidFill>
                  <a:srgbClr val="5197E9"/>
                </a:solidFill>
                <a:latin typeface="Trebuchet MS"/>
                <a:ea typeface="Trebuchet MS"/>
                <a:cs typeface="Trebuchet MS"/>
                <a:sym typeface="Trebuchet M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FY25</a:t>
            </a:r>
            <a:r>
              <a:rPr lang="en-US" sz="2400" b="1" i="0" u="none" strike="noStrike" cap="none" dirty="0">
                <a:solidFill>
                  <a:srgbClr val="5197E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 dirty="0">
              <a:solidFill>
                <a:srgbClr val="5197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877AD7-B843-1B95-4B6D-29D10312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53406"/>
              </p:ext>
            </p:extLst>
          </p:nvPr>
        </p:nvGraphicFramePr>
        <p:xfrm>
          <a:off x="51758" y="1236018"/>
          <a:ext cx="12105736" cy="5511180"/>
        </p:xfrm>
        <a:graphic>
          <a:graphicData uri="http://schemas.openxmlformats.org/drawingml/2006/table">
            <a:tbl>
              <a:tblPr/>
              <a:tblGrid>
                <a:gridCol w="2752245">
                  <a:extLst>
                    <a:ext uri="{9D8B030D-6E8A-4147-A177-3AD203B41FA5}">
                      <a16:colId xmlns:a16="http://schemas.microsoft.com/office/drawing/2014/main" val="261743808"/>
                    </a:ext>
                  </a:extLst>
                </a:gridCol>
                <a:gridCol w="1262308">
                  <a:extLst>
                    <a:ext uri="{9D8B030D-6E8A-4147-A177-3AD203B41FA5}">
                      <a16:colId xmlns:a16="http://schemas.microsoft.com/office/drawing/2014/main" val="2307043717"/>
                    </a:ext>
                  </a:extLst>
                </a:gridCol>
                <a:gridCol w="931211">
                  <a:extLst>
                    <a:ext uri="{9D8B030D-6E8A-4147-A177-3AD203B41FA5}">
                      <a16:colId xmlns:a16="http://schemas.microsoft.com/office/drawing/2014/main" val="3833935307"/>
                    </a:ext>
                  </a:extLst>
                </a:gridCol>
                <a:gridCol w="1407161">
                  <a:extLst>
                    <a:ext uri="{9D8B030D-6E8A-4147-A177-3AD203B41FA5}">
                      <a16:colId xmlns:a16="http://schemas.microsoft.com/office/drawing/2014/main" val="3760763566"/>
                    </a:ext>
                  </a:extLst>
                </a:gridCol>
                <a:gridCol w="1241614">
                  <a:extLst>
                    <a:ext uri="{9D8B030D-6E8A-4147-A177-3AD203B41FA5}">
                      <a16:colId xmlns:a16="http://schemas.microsoft.com/office/drawing/2014/main" val="3817661523"/>
                    </a:ext>
                  </a:extLst>
                </a:gridCol>
                <a:gridCol w="1448548">
                  <a:extLst>
                    <a:ext uri="{9D8B030D-6E8A-4147-A177-3AD203B41FA5}">
                      <a16:colId xmlns:a16="http://schemas.microsoft.com/office/drawing/2014/main" val="3914875189"/>
                    </a:ext>
                  </a:extLst>
                </a:gridCol>
                <a:gridCol w="1365777">
                  <a:extLst>
                    <a:ext uri="{9D8B030D-6E8A-4147-A177-3AD203B41FA5}">
                      <a16:colId xmlns:a16="http://schemas.microsoft.com/office/drawing/2014/main" val="4238013890"/>
                    </a:ext>
                  </a:extLst>
                </a:gridCol>
                <a:gridCol w="1696872">
                  <a:extLst>
                    <a:ext uri="{9D8B030D-6E8A-4147-A177-3AD203B41FA5}">
                      <a16:colId xmlns:a16="http://schemas.microsoft.com/office/drawing/2014/main" val="1575245625"/>
                    </a:ext>
                  </a:extLst>
                </a:gridCol>
              </a:tblGrid>
              <a:tr h="292013"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PMS KPI 2025 SUBMISSION STATUS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032745"/>
                  </a:ext>
                </a:extLst>
              </a:tr>
              <a:tr h="548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Department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APL-Uganda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APDL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APL-Tanzania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APL-Kenya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APL-Burundi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APL-Rwanda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rebuchet MS" panose="020B0603020202020204" pitchFamily="34" charset="0"/>
                        </a:rPr>
                        <a:t>Total Submissions  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96253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Commercial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147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611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361805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Supply Chain Management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67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146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391931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Finance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33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696057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Administration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13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477846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Legal &amp; Compliance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842459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Human Resources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47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983801"/>
                  </a:ext>
                </a:extLst>
              </a:tr>
              <a:tr h="300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Production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57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132261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Regulatory Affairs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420169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Internal Audit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645029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Maintenance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203607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Information Technology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897602"/>
                  </a:ext>
                </a:extLst>
              </a:tr>
              <a:tr h="4193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Quality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49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224823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Total Submitted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498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189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216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054752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Eligible Staff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527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191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216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1056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484252"/>
                  </a:ext>
                </a:extLst>
              </a:tr>
              <a:tr h="2816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Pending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32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760222"/>
                  </a:ext>
                </a:extLst>
              </a:tr>
              <a:tr h="28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Submission Rate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97%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8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101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Custom 1">
      <a:dk1>
        <a:srgbClr val="414042"/>
      </a:dk1>
      <a:lt1>
        <a:srgbClr val="FFFFFF"/>
      </a:lt1>
      <a:dk2>
        <a:srgbClr val="414042"/>
      </a:dk2>
      <a:lt2>
        <a:srgbClr val="F2F2F2"/>
      </a:lt2>
      <a:accent1>
        <a:srgbClr val="2D685D"/>
      </a:accent1>
      <a:accent2>
        <a:srgbClr val="00B18D"/>
      </a:accent2>
      <a:accent3>
        <a:srgbClr val="10FFC1"/>
      </a:accent3>
      <a:accent4>
        <a:srgbClr val="00C9FF"/>
      </a:accent4>
      <a:accent5>
        <a:srgbClr val="F2F2F2"/>
      </a:accent5>
      <a:accent6>
        <a:srgbClr val="D8D8D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4374</TotalTime>
  <Words>2148</Words>
  <Application>Microsoft Office PowerPoint</Application>
  <PresentationFormat>Widescreen</PresentationFormat>
  <Paragraphs>808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1_Office Theme</vt:lpstr>
      <vt:lpstr>2_Office Theme</vt:lpstr>
      <vt:lpstr>PowerPoint Presentation</vt:lpstr>
      <vt:lpstr>Table of Contents</vt:lpstr>
      <vt:lpstr>1. Group Headcount – Q2 FY25</vt:lpstr>
      <vt:lpstr>1.1. MPC/BTO ratio and Attrition</vt:lpstr>
      <vt:lpstr>2. Group Recruitments and promotions</vt:lpstr>
      <vt:lpstr>2.1.Disciplinary Management</vt:lpstr>
      <vt:lpstr>2.2 Group PM/KPIs-Setting and Midyear evaluation roll out </vt:lpstr>
      <vt:lpstr>2.3 Group Learning and Development</vt:lpstr>
      <vt:lpstr>2.4. Group Wellness, EE and Learning &amp; Development-Snap shots </vt:lpstr>
      <vt:lpstr>3. Status of implementation of Phase 2 of Project Red sea</vt:lpstr>
      <vt:lpstr>5. Request to the 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Berna Arinaitwe</dc:creator>
  <cp:lastModifiedBy>Berna Arinaitwe</cp:lastModifiedBy>
  <cp:revision>26</cp:revision>
  <dcterms:created xsi:type="dcterms:W3CDTF">2023-12-08T12:00:19Z</dcterms:created>
  <dcterms:modified xsi:type="dcterms:W3CDTF">2026-04-25T10:36:05Z</dcterms:modified>
</cp:coreProperties>
</file>